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6" r:id="rId23"/>
  </p:sldIdLst>
  <p:sldSz cx="16256000" cy="9144000"/>
  <p:notesSz cx="9144000" cy="16256000"/>
  <p:embeddedFontLst>
    <p:embeddedFont>
      <p:font typeface="Quattrocento Sans" panose="020B0502050000020003" pitchFamily="3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66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9717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A87CE-E440-DD12-DD84-A963398A2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F4C31-37A9-4D22-B294-22C39CBDB2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27EF0-39B9-F9E3-7F67-DDB4F69E33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F6AE9-D0B1-9DF5-9BC3-38699F68EE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8487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7020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1B5E3B"/>
            </a:gs>
            <a:gs pos="100000">
              <a:srgbClr val="0F3D26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302000"/>
            <a:ext cx="2540000" cy="38100"/>
          </a:xfrm>
          <a:prstGeom prst="rect">
            <a:avLst/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78000" y="3556000"/>
            <a:ext cx="12700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FFFFF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EMSI PassionMatch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778000" y="4445000"/>
            <a:ext cx="1270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E8EDE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Application mobile Android d'orientation intelligente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23000" y="5207000"/>
            <a:ext cx="3810000" cy="12700"/>
          </a:xfrm>
          <a:prstGeom prst="rect">
            <a:avLst/>
          </a:prstGeom>
          <a:solidFill>
            <a:srgbClr val="FFFFFF">
              <a:alpha val="31373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778000" y="5461000"/>
            <a:ext cx="1270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Rapport de Projet de Fin d'Annee (PFA)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Ecole Marocaine des Sciences de l'Ingenieur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Oussama BOUKENZE | Annee universitaire 2025-2026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0" y="7112000"/>
            <a:ext cx="2540000" cy="457200"/>
          </a:xfrm>
          <a:prstGeom prst="roundRect">
            <a:avLst>
              <a:gd name="adj" fmla="val 50000"/>
            </a:avLst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0" y="7112000"/>
            <a:ext cx="254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Dev. Mobile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334000" cy="91440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3556000"/>
            <a:ext cx="381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kern="0" spc="3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SOMMAIRE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62000" y="4318000"/>
            <a:ext cx="1016000" cy="38100"/>
          </a:xfrm>
          <a:prstGeom prst="rect">
            <a:avLst/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096000" y="2032000"/>
            <a:ext cx="889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C8953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12000" y="2032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Contexte General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112000" y="2476500"/>
            <a:ext cx="812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Presentation, problematique, solution et planification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6000" y="3048000"/>
            <a:ext cx="9398000" cy="12700"/>
          </a:xfrm>
          <a:prstGeom prst="rect">
            <a:avLst/>
          </a:prstGeom>
          <a:solidFill>
            <a:srgbClr val="D0D5D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096000" y="3429000"/>
            <a:ext cx="889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C8953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112000" y="3429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Analyse et Conception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12000" y="3873500"/>
            <a:ext cx="812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Acteurs, besoins, regles de gestion et modeles UML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96000" y="4445000"/>
            <a:ext cx="9398000" cy="12700"/>
          </a:xfrm>
          <a:prstGeom prst="rect">
            <a:avLst/>
          </a:prstGeom>
          <a:solidFill>
            <a:srgbClr val="D0D5D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96000" y="4826000"/>
            <a:ext cx="889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C8953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12000" y="4826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Etude Technique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12000" y="5270500"/>
            <a:ext cx="812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Architecture, technologies, backend et configuration reseau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096000" y="5842000"/>
            <a:ext cx="9398000" cy="12700"/>
          </a:xfrm>
          <a:prstGeom prst="rect">
            <a:avLst/>
          </a:prstGeom>
          <a:solidFill>
            <a:srgbClr val="D0D5D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96000" y="6223000"/>
            <a:ext cx="889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C8953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12000" y="6223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Mise en Oeuvre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112000" y="6667500"/>
            <a:ext cx="812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Ecrans, fonctionnalites mobiles, tests et ameliorations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96000" y="7239000"/>
            <a:ext cx="9398000" cy="12700"/>
          </a:xfrm>
          <a:prstGeom prst="rect">
            <a:avLst/>
          </a:prstGeom>
          <a:solidFill>
            <a:srgbClr val="D0D5D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96000" y="7620000"/>
            <a:ext cx="939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 Conclusion generale et perspectives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0" cy="91440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2794000"/>
            <a:ext cx="45720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600" b="1" dirty="0">
                <a:solidFill>
                  <a:srgbClr val="FFFFFF">
                    <a:alpha val="18824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62000" y="4318000"/>
            <a:ext cx="457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kern="0" spc="3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CHAPITRE 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4826000"/>
            <a:ext cx="762000" cy="38100"/>
          </a:xfrm>
          <a:prstGeom prst="rect">
            <a:avLst/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0" y="3556000"/>
            <a:ext cx="863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Contexte General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0" y="4318000"/>
            <a:ext cx="8636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du Projet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0" y="5080000"/>
            <a:ext cx="812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Presentation du projet, problematique, solution proposee et planification du travail.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Presentation du Projet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62000" y="1397000"/>
            <a:ext cx="1473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1A1D1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EMSI PassionMatch est une </a:t>
            </a:r>
            <a:r>
              <a:rPr lang="en-US" sz="1800" b="1" dirty="0">
                <a:solidFill>
                  <a:srgbClr val="1A1D1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application Android native</a:t>
            </a:r>
            <a:r>
              <a:rPr lang="en-US" sz="1800" dirty="0">
                <a:solidFill>
                  <a:srgbClr val="1A1D1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d'orientation academique qui accompagne les utilisateurs vers les filieres de l'EMSI via un quiz dynamique, une visualisation graphique des scores et un assistant conversationnel IA.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476500"/>
          <a:ext cx="14732000" cy="3937000"/>
        </p:xfrm>
        <a:graphic>
          <a:graphicData uri="http://schemas.openxmlformats.org/drawingml/2006/table">
            <a:tbl>
              <a:tblPr/>
              <a:tblGrid>
                <a:gridCol w="368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4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Element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Description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Nom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EMSI PassionMatch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Type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Application mobile Android native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Domaine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Orientation academique et assistance conversationnelle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Backend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API Express / MongoDB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Assistant EMSI base sur Ollama (llama3.2)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Fonctions mobiles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Camera, micro, GPS, Google Maps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12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Public cible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Candidats, etudiants et visiteurs interesses par les filieres EMSI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762000" y="6604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Modules principaux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996950" y="711200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33350" y="4763"/>
                </a:moveTo>
                <a:cubicBezTo>
                  <a:pt x="172777" y="4763"/>
                  <a:pt x="204787" y="36773"/>
                  <a:pt x="204787" y="76200"/>
                </a:cubicBezTo>
                <a:cubicBezTo>
                  <a:pt x="204787" y="115627"/>
                  <a:pt x="172777" y="147638"/>
                  <a:pt x="133350" y="147638"/>
                </a:cubicBezTo>
                <a:cubicBezTo>
                  <a:pt x="93923" y="147638"/>
                  <a:pt x="61913" y="115627"/>
                  <a:pt x="61912" y="76200"/>
                </a:cubicBezTo>
                <a:cubicBezTo>
                  <a:pt x="61912" y="36773"/>
                  <a:pt x="93923" y="4763"/>
                  <a:pt x="133350" y="4763"/>
                </a:cubicBezTo>
                <a:close/>
                <a:moveTo>
                  <a:pt x="115669" y="180975"/>
                </a:moveTo>
                <a:lnTo>
                  <a:pt x="151031" y="180975"/>
                </a:lnTo>
                <a:cubicBezTo>
                  <a:pt x="168712" y="180975"/>
                  <a:pt x="185380" y="185321"/>
                  <a:pt x="200025" y="192941"/>
                </a:cubicBezTo>
                <a:lnTo>
                  <a:pt x="200025" y="195501"/>
                </a:lnTo>
                <a:cubicBezTo>
                  <a:pt x="188357" y="205978"/>
                  <a:pt x="180975" y="221159"/>
                  <a:pt x="180975" y="238065"/>
                </a:cubicBezTo>
                <a:lnTo>
                  <a:pt x="180975" y="295215"/>
                </a:lnTo>
                <a:cubicBezTo>
                  <a:pt x="180975" y="298490"/>
                  <a:pt x="181273" y="301704"/>
                  <a:pt x="181749" y="304800"/>
                </a:cubicBezTo>
                <a:lnTo>
                  <a:pt x="27206" y="304800"/>
                </a:lnTo>
                <a:cubicBezTo>
                  <a:pt x="17443" y="304800"/>
                  <a:pt x="9525" y="296882"/>
                  <a:pt x="9525" y="287119"/>
                </a:cubicBezTo>
                <a:cubicBezTo>
                  <a:pt x="9525" y="228481"/>
                  <a:pt x="57031" y="180975"/>
                  <a:pt x="115669" y="180975"/>
                </a:cubicBezTo>
                <a:close/>
                <a:moveTo>
                  <a:pt x="295275" y="181035"/>
                </a:moveTo>
                <a:cubicBezTo>
                  <a:pt x="295275" y="170498"/>
                  <a:pt x="286762" y="161985"/>
                  <a:pt x="276225" y="161985"/>
                </a:cubicBezTo>
                <a:cubicBezTo>
                  <a:pt x="265688" y="161985"/>
                  <a:pt x="257175" y="170498"/>
                  <a:pt x="257175" y="181035"/>
                </a:cubicBezTo>
                <a:lnTo>
                  <a:pt x="257175" y="209550"/>
                </a:lnTo>
                <a:lnTo>
                  <a:pt x="295275" y="209550"/>
                </a:lnTo>
                <a:lnTo>
                  <a:pt x="295275" y="181035"/>
                </a:lnTo>
                <a:close/>
                <a:moveTo>
                  <a:pt x="209550" y="238125"/>
                </a:moveTo>
                <a:cubicBezTo>
                  <a:pt x="209550" y="225683"/>
                  <a:pt x="217527" y="215086"/>
                  <a:pt x="228600" y="211157"/>
                </a:cubicBezTo>
                <a:lnTo>
                  <a:pt x="228600" y="181035"/>
                </a:lnTo>
                <a:cubicBezTo>
                  <a:pt x="228600" y="154722"/>
                  <a:pt x="249912" y="133410"/>
                  <a:pt x="276225" y="133410"/>
                </a:cubicBezTo>
                <a:cubicBezTo>
                  <a:pt x="302538" y="133410"/>
                  <a:pt x="323850" y="154722"/>
                  <a:pt x="323850" y="181035"/>
                </a:cubicBezTo>
                <a:lnTo>
                  <a:pt x="323850" y="211157"/>
                </a:lnTo>
                <a:cubicBezTo>
                  <a:pt x="334923" y="215086"/>
                  <a:pt x="342900" y="225683"/>
                  <a:pt x="342900" y="238125"/>
                </a:cubicBezTo>
                <a:lnTo>
                  <a:pt x="342900" y="295275"/>
                </a:lnTo>
                <a:cubicBezTo>
                  <a:pt x="342900" y="311051"/>
                  <a:pt x="330101" y="323850"/>
                  <a:pt x="314325" y="323850"/>
                </a:cubicBezTo>
                <a:lnTo>
                  <a:pt x="238125" y="323850"/>
                </a:lnTo>
                <a:cubicBezTo>
                  <a:pt x="222349" y="323850"/>
                  <a:pt x="209550" y="311051"/>
                  <a:pt x="209550" y="295275"/>
                </a:cubicBezTo>
                <a:lnTo>
                  <a:pt x="209550" y="238125"/>
                </a:ln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422400" y="7086600"/>
            <a:ext cx="165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Authentification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517900" y="71120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381000" h="304800">
                <a:moveTo>
                  <a:pt x="80962" y="76200"/>
                </a:moveTo>
                <a:cubicBezTo>
                  <a:pt x="80962" y="36773"/>
                  <a:pt x="112973" y="4763"/>
                  <a:pt x="152400" y="4763"/>
                </a:cubicBezTo>
                <a:cubicBezTo>
                  <a:pt x="191827" y="4763"/>
                  <a:pt x="223838" y="36773"/>
                  <a:pt x="223838" y="76200"/>
                </a:cubicBezTo>
                <a:cubicBezTo>
                  <a:pt x="223838" y="115627"/>
                  <a:pt x="191827" y="147638"/>
                  <a:pt x="152400" y="147638"/>
                </a:cubicBezTo>
                <a:cubicBezTo>
                  <a:pt x="112973" y="147638"/>
                  <a:pt x="80962" y="115627"/>
                  <a:pt x="80962" y="76200"/>
                </a:cubicBezTo>
                <a:close/>
                <a:moveTo>
                  <a:pt x="28575" y="287119"/>
                </a:moveTo>
                <a:cubicBezTo>
                  <a:pt x="28575" y="228481"/>
                  <a:pt x="76081" y="180975"/>
                  <a:pt x="134719" y="180975"/>
                </a:cubicBezTo>
                <a:lnTo>
                  <a:pt x="170081" y="180975"/>
                </a:lnTo>
                <a:cubicBezTo>
                  <a:pt x="228719" y="180975"/>
                  <a:pt x="276225" y="228481"/>
                  <a:pt x="276225" y="287119"/>
                </a:cubicBezTo>
                <a:cubicBezTo>
                  <a:pt x="276225" y="296882"/>
                  <a:pt x="268307" y="304800"/>
                  <a:pt x="258544" y="304800"/>
                </a:cubicBezTo>
                <a:lnTo>
                  <a:pt x="46256" y="304800"/>
                </a:lnTo>
                <a:cubicBezTo>
                  <a:pt x="36493" y="304800"/>
                  <a:pt x="28575" y="296882"/>
                  <a:pt x="28575" y="287119"/>
                </a:cubicBezTo>
                <a:close/>
                <a:moveTo>
                  <a:pt x="323850" y="57150"/>
                </a:moveTo>
                <a:cubicBezTo>
                  <a:pt x="331768" y="57150"/>
                  <a:pt x="338138" y="63520"/>
                  <a:pt x="338138" y="71438"/>
                </a:cubicBezTo>
                <a:lnTo>
                  <a:pt x="338138" y="100013"/>
                </a:lnTo>
                <a:lnTo>
                  <a:pt x="366712" y="100013"/>
                </a:lnTo>
                <a:cubicBezTo>
                  <a:pt x="374630" y="100013"/>
                  <a:pt x="381000" y="106382"/>
                  <a:pt x="381000" y="114300"/>
                </a:cubicBezTo>
                <a:cubicBezTo>
                  <a:pt x="381000" y="122218"/>
                  <a:pt x="374630" y="128588"/>
                  <a:pt x="366712" y="128588"/>
                </a:cubicBezTo>
                <a:lnTo>
                  <a:pt x="338138" y="128588"/>
                </a:lnTo>
                <a:lnTo>
                  <a:pt x="338138" y="157163"/>
                </a:lnTo>
                <a:cubicBezTo>
                  <a:pt x="338138" y="165080"/>
                  <a:pt x="331768" y="171450"/>
                  <a:pt x="323850" y="171450"/>
                </a:cubicBezTo>
                <a:cubicBezTo>
                  <a:pt x="315932" y="171450"/>
                  <a:pt x="309563" y="165080"/>
                  <a:pt x="309563" y="157163"/>
                </a:cubicBezTo>
                <a:lnTo>
                  <a:pt x="309563" y="128588"/>
                </a:lnTo>
                <a:lnTo>
                  <a:pt x="280987" y="128588"/>
                </a:lnTo>
                <a:cubicBezTo>
                  <a:pt x="273070" y="128588"/>
                  <a:pt x="266700" y="122218"/>
                  <a:pt x="266700" y="114300"/>
                </a:cubicBezTo>
                <a:cubicBezTo>
                  <a:pt x="266700" y="106382"/>
                  <a:pt x="273070" y="100013"/>
                  <a:pt x="280987" y="100013"/>
                </a:cubicBezTo>
                <a:lnTo>
                  <a:pt x="309563" y="100013"/>
                </a:lnTo>
                <a:lnTo>
                  <a:pt x="309563" y="71438"/>
                </a:lnTo>
                <a:cubicBezTo>
                  <a:pt x="309563" y="63520"/>
                  <a:pt x="315932" y="57150"/>
                  <a:pt x="323850" y="57150"/>
                </a:cubicBez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962400" y="7086600"/>
            <a:ext cx="1143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Inscription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753100" y="71120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185380" y="19050"/>
                </a:moveTo>
                <a:lnTo>
                  <a:pt x="190500" y="19050"/>
                </a:lnTo>
                <a:cubicBezTo>
                  <a:pt x="211515" y="19050"/>
                  <a:pt x="228600" y="36135"/>
                  <a:pt x="228600" y="57150"/>
                </a:cubicBezTo>
                <a:lnTo>
                  <a:pt x="228600" y="266700"/>
                </a:lnTo>
                <a:cubicBezTo>
                  <a:pt x="228600" y="287715"/>
                  <a:pt x="211515" y="304800"/>
                  <a:pt x="190500" y="304800"/>
                </a:cubicBezTo>
                <a:lnTo>
                  <a:pt x="38100" y="304800"/>
                </a:lnTo>
                <a:cubicBezTo>
                  <a:pt x="17085" y="304800"/>
                  <a:pt x="0" y="287715"/>
                  <a:pt x="0" y="266700"/>
                </a:cubicBezTo>
                <a:lnTo>
                  <a:pt x="0" y="57150"/>
                </a:lnTo>
                <a:cubicBezTo>
                  <a:pt x="0" y="36135"/>
                  <a:pt x="17085" y="19050"/>
                  <a:pt x="38100" y="19050"/>
                </a:cubicBezTo>
                <a:lnTo>
                  <a:pt x="43220" y="19050"/>
                </a:lnTo>
                <a:cubicBezTo>
                  <a:pt x="49768" y="7680"/>
                  <a:pt x="62091" y="0"/>
                  <a:pt x="76200" y="0"/>
                </a:cubicBezTo>
                <a:lnTo>
                  <a:pt x="152400" y="0"/>
                </a:lnTo>
                <a:cubicBezTo>
                  <a:pt x="166509" y="0"/>
                  <a:pt x="178832" y="7680"/>
                  <a:pt x="185380" y="19050"/>
                </a:cubicBezTo>
                <a:close/>
                <a:moveTo>
                  <a:pt x="147638" y="66675"/>
                </a:moveTo>
                <a:cubicBezTo>
                  <a:pt x="155555" y="66675"/>
                  <a:pt x="161925" y="60305"/>
                  <a:pt x="161925" y="52388"/>
                </a:cubicBezTo>
                <a:cubicBezTo>
                  <a:pt x="161925" y="44470"/>
                  <a:pt x="155555" y="38100"/>
                  <a:pt x="147638" y="38100"/>
                </a:cubicBezTo>
                <a:lnTo>
                  <a:pt x="80962" y="38100"/>
                </a:lnTo>
                <a:cubicBezTo>
                  <a:pt x="73045" y="38100"/>
                  <a:pt x="66675" y="44470"/>
                  <a:pt x="66675" y="52388"/>
                </a:cubicBezTo>
                <a:cubicBezTo>
                  <a:pt x="66675" y="60305"/>
                  <a:pt x="73045" y="66675"/>
                  <a:pt x="80962" y="66675"/>
                </a:cubicBezTo>
                <a:lnTo>
                  <a:pt x="147638" y="66675"/>
                </a:lnTo>
                <a:close/>
                <a:moveTo>
                  <a:pt x="114300" y="147638"/>
                </a:moveTo>
                <a:cubicBezTo>
                  <a:pt x="123885" y="147638"/>
                  <a:pt x="131683" y="155436"/>
                  <a:pt x="131683" y="165021"/>
                </a:cubicBezTo>
                <a:cubicBezTo>
                  <a:pt x="131683" y="170200"/>
                  <a:pt x="129838" y="173295"/>
                  <a:pt x="127575" y="175558"/>
                </a:cubicBezTo>
                <a:cubicBezTo>
                  <a:pt x="124897" y="178177"/>
                  <a:pt x="121206" y="180022"/>
                  <a:pt x="117574" y="181213"/>
                </a:cubicBezTo>
                <a:cubicBezTo>
                  <a:pt x="108704" y="184190"/>
                  <a:pt x="100012" y="192703"/>
                  <a:pt x="100012" y="204728"/>
                </a:cubicBezTo>
                <a:cubicBezTo>
                  <a:pt x="100012" y="212646"/>
                  <a:pt x="106382" y="219015"/>
                  <a:pt x="114300" y="219015"/>
                </a:cubicBezTo>
                <a:cubicBezTo>
                  <a:pt x="121146" y="219015"/>
                  <a:pt x="126921" y="214193"/>
                  <a:pt x="128290" y="207705"/>
                </a:cubicBezTo>
                <a:cubicBezTo>
                  <a:pt x="139720" y="203478"/>
                  <a:pt x="160258" y="192048"/>
                  <a:pt x="160258" y="164961"/>
                </a:cubicBezTo>
                <a:cubicBezTo>
                  <a:pt x="160258" y="139601"/>
                  <a:pt x="139660" y="119003"/>
                  <a:pt x="114300" y="119003"/>
                </a:cubicBezTo>
                <a:cubicBezTo>
                  <a:pt x="88940" y="119003"/>
                  <a:pt x="68342" y="139601"/>
                  <a:pt x="68342" y="164961"/>
                </a:cubicBezTo>
                <a:cubicBezTo>
                  <a:pt x="68342" y="172879"/>
                  <a:pt x="74712" y="179249"/>
                  <a:pt x="82629" y="179249"/>
                </a:cubicBezTo>
                <a:cubicBezTo>
                  <a:pt x="90547" y="179249"/>
                  <a:pt x="96917" y="172879"/>
                  <a:pt x="96917" y="164961"/>
                </a:cubicBezTo>
                <a:cubicBezTo>
                  <a:pt x="96917" y="155377"/>
                  <a:pt x="104715" y="147578"/>
                  <a:pt x="114300" y="147578"/>
                </a:cubicBezTo>
                <a:close/>
                <a:moveTo>
                  <a:pt x="130969" y="247650"/>
                </a:moveTo>
                <a:cubicBezTo>
                  <a:pt x="130969" y="238423"/>
                  <a:pt x="123527" y="230981"/>
                  <a:pt x="114300" y="230981"/>
                </a:cubicBezTo>
                <a:cubicBezTo>
                  <a:pt x="105073" y="230981"/>
                  <a:pt x="97631" y="238423"/>
                  <a:pt x="97631" y="247650"/>
                </a:cubicBezTo>
                <a:cubicBezTo>
                  <a:pt x="97631" y="256877"/>
                  <a:pt x="105073" y="264319"/>
                  <a:pt x="114300" y="264319"/>
                </a:cubicBezTo>
                <a:cubicBezTo>
                  <a:pt x="123527" y="264319"/>
                  <a:pt x="130969" y="256877"/>
                  <a:pt x="130969" y="247650"/>
                </a:cubicBez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121400" y="7086600"/>
            <a:ext cx="63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Quiz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366000" y="7112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/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772400" y="7086600"/>
            <a:ext cx="825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Score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978900" y="71120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381000" h="304800">
                <a:moveTo>
                  <a:pt x="209550" y="0"/>
                </a:moveTo>
                <a:cubicBezTo>
                  <a:pt x="209550" y="-10537"/>
                  <a:pt x="201037" y="-19050"/>
                  <a:pt x="190500" y="-19050"/>
                </a:cubicBezTo>
                <a:cubicBezTo>
                  <a:pt x="179963" y="-19050"/>
                  <a:pt x="171450" y="-10537"/>
                  <a:pt x="171450" y="0"/>
                </a:cubicBezTo>
                <a:lnTo>
                  <a:pt x="171450" y="38100"/>
                </a:lnTo>
                <a:lnTo>
                  <a:pt x="114300" y="38100"/>
                </a:lnTo>
                <a:cubicBezTo>
                  <a:pt x="82748" y="38100"/>
                  <a:pt x="57150" y="63698"/>
                  <a:pt x="57150" y="95250"/>
                </a:cubicBezTo>
                <a:lnTo>
                  <a:pt x="57150" y="228600"/>
                </a:lnTo>
                <a:cubicBezTo>
                  <a:pt x="57150" y="260152"/>
                  <a:pt x="82748" y="285750"/>
                  <a:pt x="114300" y="285750"/>
                </a:cubicBezTo>
                <a:lnTo>
                  <a:pt x="266700" y="285750"/>
                </a:lnTo>
                <a:cubicBezTo>
                  <a:pt x="298252" y="285750"/>
                  <a:pt x="323850" y="260152"/>
                  <a:pt x="323850" y="228600"/>
                </a:cubicBezTo>
                <a:lnTo>
                  <a:pt x="323850" y="95250"/>
                </a:lnTo>
                <a:cubicBezTo>
                  <a:pt x="323850" y="63698"/>
                  <a:pt x="298252" y="38100"/>
                  <a:pt x="266700" y="38100"/>
                </a:cubicBezTo>
                <a:lnTo>
                  <a:pt x="209550" y="38100"/>
                </a:lnTo>
                <a:lnTo>
                  <a:pt x="209550" y="0"/>
                </a:lnTo>
                <a:close/>
                <a:moveTo>
                  <a:pt x="95250" y="219075"/>
                </a:moveTo>
                <a:cubicBezTo>
                  <a:pt x="95250" y="211157"/>
                  <a:pt x="101620" y="204787"/>
                  <a:pt x="109537" y="204787"/>
                </a:cubicBezTo>
                <a:lnTo>
                  <a:pt x="128588" y="204787"/>
                </a:lnTo>
                <a:cubicBezTo>
                  <a:pt x="136505" y="204787"/>
                  <a:pt x="142875" y="211157"/>
                  <a:pt x="142875" y="219075"/>
                </a:cubicBezTo>
                <a:cubicBezTo>
                  <a:pt x="142875" y="226993"/>
                  <a:pt x="136505" y="233363"/>
                  <a:pt x="128588" y="233363"/>
                </a:cubicBezTo>
                <a:lnTo>
                  <a:pt x="109537" y="233363"/>
                </a:lnTo>
                <a:cubicBezTo>
                  <a:pt x="101620" y="233363"/>
                  <a:pt x="95250" y="226993"/>
                  <a:pt x="95250" y="219075"/>
                </a:cubicBezTo>
                <a:close/>
                <a:moveTo>
                  <a:pt x="166688" y="219075"/>
                </a:moveTo>
                <a:cubicBezTo>
                  <a:pt x="166688" y="211157"/>
                  <a:pt x="173057" y="204787"/>
                  <a:pt x="180975" y="204787"/>
                </a:cubicBezTo>
                <a:lnTo>
                  <a:pt x="200025" y="204787"/>
                </a:lnTo>
                <a:cubicBezTo>
                  <a:pt x="207943" y="204787"/>
                  <a:pt x="214313" y="211157"/>
                  <a:pt x="214313" y="219075"/>
                </a:cubicBezTo>
                <a:cubicBezTo>
                  <a:pt x="214313" y="226993"/>
                  <a:pt x="207943" y="233363"/>
                  <a:pt x="200025" y="233363"/>
                </a:cubicBezTo>
                <a:lnTo>
                  <a:pt x="180975" y="233363"/>
                </a:lnTo>
                <a:cubicBezTo>
                  <a:pt x="173057" y="233363"/>
                  <a:pt x="166688" y="226993"/>
                  <a:pt x="166688" y="219075"/>
                </a:cubicBezTo>
                <a:close/>
                <a:moveTo>
                  <a:pt x="238125" y="219075"/>
                </a:moveTo>
                <a:cubicBezTo>
                  <a:pt x="238125" y="211157"/>
                  <a:pt x="244495" y="204787"/>
                  <a:pt x="252413" y="204787"/>
                </a:cubicBezTo>
                <a:lnTo>
                  <a:pt x="271463" y="204787"/>
                </a:lnTo>
                <a:cubicBezTo>
                  <a:pt x="279380" y="204787"/>
                  <a:pt x="285750" y="211157"/>
                  <a:pt x="285750" y="219075"/>
                </a:cubicBezTo>
                <a:cubicBezTo>
                  <a:pt x="285750" y="226993"/>
                  <a:pt x="279380" y="233363"/>
                  <a:pt x="271463" y="233363"/>
                </a:cubicBezTo>
                <a:lnTo>
                  <a:pt x="252413" y="233363"/>
                </a:lnTo>
                <a:cubicBezTo>
                  <a:pt x="244495" y="233363"/>
                  <a:pt x="238125" y="226993"/>
                  <a:pt x="238125" y="219075"/>
                </a:cubicBezTo>
                <a:close/>
                <a:moveTo>
                  <a:pt x="133350" y="104775"/>
                </a:moveTo>
                <a:cubicBezTo>
                  <a:pt x="149121" y="104775"/>
                  <a:pt x="161925" y="117579"/>
                  <a:pt x="161925" y="133350"/>
                </a:cubicBezTo>
                <a:cubicBezTo>
                  <a:pt x="161925" y="149121"/>
                  <a:pt x="149121" y="161925"/>
                  <a:pt x="133350" y="161925"/>
                </a:cubicBezTo>
                <a:cubicBezTo>
                  <a:pt x="117579" y="161925"/>
                  <a:pt x="104775" y="149121"/>
                  <a:pt x="104775" y="133350"/>
                </a:cubicBezTo>
                <a:cubicBezTo>
                  <a:pt x="104775" y="117579"/>
                  <a:pt x="117579" y="104775"/>
                  <a:pt x="133350" y="104775"/>
                </a:cubicBezTo>
                <a:close/>
                <a:moveTo>
                  <a:pt x="219075" y="133350"/>
                </a:moveTo>
                <a:cubicBezTo>
                  <a:pt x="219075" y="117579"/>
                  <a:pt x="231879" y="104775"/>
                  <a:pt x="247650" y="104775"/>
                </a:cubicBezTo>
                <a:cubicBezTo>
                  <a:pt x="263421" y="104775"/>
                  <a:pt x="276225" y="117579"/>
                  <a:pt x="276225" y="133350"/>
                </a:cubicBezTo>
                <a:cubicBezTo>
                  <a:pt x="276225" y="149121"/>
                  <a:pt x="263421" y="161925"/>
                  <a:pt x="247650" y="161925"/>
                </a:cubicBezTo>
                <a:cubicBezTo>
                  <a:pt x="231879" y="161925"/>
                  <a:pt x="219075" y="149121"/>
                  <a:pt x="219075" y="133350"/>
                </a:cubicBezTo>
                <a:close/>
                <a:moveTo>
                  <a:pt x="38100" y="133350"/>
                </a:moveTo>
                <a:cubicBezTo>
                  <a:pt x="38100" y="122813"/>
                  <a:pt x="29587" y="114300"/>
                  <a:pt x="19050" y="114300"/>
                </a:cubicBezTo>
                <a:cubicBezTo>
                  <a:pt x="8513" y="114300"/>
                  <a:pt x="0" y="122813"/>
                  <a:pt x="0" y="133350"/>
                </a:cubicBezTo>
                <a:lnTo>
                  <a:pt x="0" y="190500"/>
                </a:lnTo>
                <a:cubicBezTo>
                  <a:pt x="0" y="201037"/>
                  <a:pt x="8513" y="209550"/>
                  <a:pt x="19050" y="209550"/>
                </a:cubicBezTo>
                <a:cubicBezTo>
                  <a:pt x="29587" y="209550"/>
                  <a:pt x="38100" y="201037"/>
                  <a:pt x="38100" y="190500"/>
                </a:cubicBezTo>
                <a:lnTo>
                  <a:pt x="38100" y="133350"/>
                </a:lnTo>
                <a:close/>
                <a:moveTo>
                  <a:pt x="361950" y="114300"/>
                </a:moveTo>
                <a:cubicBezTo>
                  <a:pt x="351413" y="114300"/>
                  <a:pt x="342900" y="122813"/>
                  <a:pt x="342900" y="133350"/>
                </a:cubicBezTo>
                <a:lnTo>
                  <a:pt x="342900" y="190500"/>
                </a:lnTo>
                <a:cubicBezTo>
                  <a:pt x="342900" y="201037"/>
                  <a:pt x="351413" y="209550"/>
                  <a:pt x="361950" y="209550"/>
                </a:cubicBezTo>
                <a:cubicBezTo>
                  <a:pt x="372487" y="209550"/>
                  <a:pt x="381000" y="201037"/>
                  <a:pt x="381000" y="190500"/>
                </a:cubicBezTo>
                <a:lnTo>
                  <a:pt x="381000" y="133350"/>
                </a:lnTo>
                <a:cubicBezTo>
                  <a:pt x="381000" y="122813"/>
                  <a:pt x="372487" y="114300"/>
                  <a:pt x="361950" y="114300"/>
                </a:cubicBez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9423400" y="7086600"/>
            <a:ext cx="88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Chatbot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0960100" y="71120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0" y="112276"/>
                </a:moveTo>
                <a:cubicBezTo>
                  <a:pt x="0" y="50244"/>
                  <a:pt x="51197" y="0"/>
                  <a:pt x="114300" y="0"/>
                </a:cubicBezTo>
                <a:cubicBezTo>
                  <a:pt x="177403" y="0"/>
                  <a:pt x="228600" y="50244"/>
                  <a:pt x="228600" y="112276"/>
                </a:cubicBezTo>
                <a:cubicBezTo>
                  <a:pt x="228600" y="183297"/>
                  <a:pt x="157043" y="268426"/>
                  <a:pt x="127159" y="300871"/>
                </a:cubicBezTo>
                <a:cubicBezTo>
                  <a:pt x="120134" y="308491"/>
                  <a:pt x="108406" y="308491"/>
                  <a:pt x="101382" y="300871"/>
                </a:cubicBezTo>
                <a:cubicBezTo>
                  <a:pt x="71497" y="268426"/>
                  <a:pt x="-60" y="183297"/>
                  <a:pt x="-60" y="112276"/>
                </a:cubicBezTo>
                <a:close/>
                <a:moveTo>
                  <a:pt x="114300" y="152400"/>
                </a:moveTo>
                <a:cubicBezTo>
                  <a:pt x="135328" y="152400"/>
                  <a:pt x="152400" y="135328"/>
                  <a:pt x="152400" y="114300"/>
                </a:cubicBezTo>
                <a:cubicBezTo>
                  <a:pt x="152400" y="93272"/>
                  <a:pt x="135328" y="76200"/>
                  <a:pt x="114300" y="76200"/>
                </a:cubicBezTo>
                <a:cubicBezTo>
                  <a:pt x="93272" y="76200"/>
                  <a:pt x="76200" y="93272"/>
                  <a:pt x="76200" y="114300"/>
                </a:cubicBezTo>
                <a:cubicBezTo>
                  <a:pt x="76200" y="135328"/>
                  <a:pt x="93272" y="152400"/>
                  <a:pt x="114300" y="152400"/>
                </a:cubicBez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11328400" y="7086600"/>
            <a:ext cx="127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Localisation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Problematique et Solution Proposee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62000" y="1460500"/>
            <a:ext cx="50800" cy="889000"/>
          </a:xfrm>
          <a:prstGeom prst="rect">
            <a:avLst/>
          </a:prstGeom>
          <a:solidFill>
            <a:srgbClr val="B85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5200" y="14605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B8545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PROBLEMATIQUE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5200" y="1816100"/>
            <a:ext cx="685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Comment concevoir une application mobile capable d'aider un utilisateur a identifier une filiere EMSI adaptee a ses centres d'interet 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2641600"/>
            <a:ext cx="50800" cy="14605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5200" y="26416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SOLUTION PROPOSEE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5200" y="2997200"/>
            <a:ext cx="6858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Application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Android native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connectee a un backend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Express/MongoDB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et un assistant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Ollama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local. Parcours : authentification → quiz dynamique → recommandation → chatbot.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62000" y="43434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Enjeux cles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62000" y="4762500"/>
            <a:ext cx="6858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Facilite d'utilisation imperative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 connectee (backend + IA)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Transparence du calcul de recommandation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Exploitation des capacites mobiles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Confiance de l'utilisateur dans le resultat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382000" y="1460500"/>
            <a:ext cx="7112000" cy="54610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36000" y="15875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Mapping Besoins → Solutions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36000" y="2032000"/>
          <a:ext cx="6604000" cy="4038600"/>
        </p:xfrm>
        <a:graphic>
          <a:graphicData uri="http://schemas.openxmlformats.org/drawingml/2006/table">
            <a:tbl>
              <a:tblPr/>
              <a:tblGrid>
                <a:gridCol w="231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31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Besoin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Solution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Impact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Identifier utilisateur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Connexion via API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Scores associes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Modifier questions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Stockage MongoDB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Contenu evolutif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Expliquer filieres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Chatbot Ollama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Dialogue naturel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Visualiser profil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Radar chart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Lecture rapide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Utiliser telephone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Camera, micro, GPS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Projet mobile complet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Methodologie et Planification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62000" y="13716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Approche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iterative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 3 versions progressives : parcours minimum → backend + MongoDB → fonctions avancees (IA, GPS, camera, micro).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260600"/>
          <a:ext cx="14732000" cy="3429000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5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5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5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5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15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151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Tache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S4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S5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S6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Cadrage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Analyse UML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Interfaces Android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Backend MongoDB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IA et fonctions mobiles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 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762000" y="59055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6B7B6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Risques et mesures</a:t>
            </a:r>
            <a:endParaRPr lang="en-US" sz="2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6350000"/>
          <a:ext cx="14732000" cy="2159000"/>
        </p:xfrm>
        <a:graphic>
          <a:graphicData uri="http://schemas.openxmlformats.org/drawingml/2006/table">
            <a:tbl>
              <a:tblPr/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Risque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Impact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Mesure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API indisponible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Quiz non charge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Messages d'erreur + verification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Ollama non lance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Chatbot indisponible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Detection + URL de repli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Permissions refusees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Camera/micro/GPS inactifs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Demande explicite + degradation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0" cy="91440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2794000"/>
            <a:ext cx="45720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600" b="1" dirty="0">
                <a:solidFill>
                  <a:srgbClr val="FFFFFF">
                    <a:alpha val="18824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62000" y="4318000"/>
            <a:ext cx="457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kern="0" spc="3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CHAPITRE 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4826000"/>
            <a:ext cx="762000" cy="38100"/>
          </a:xfrm>
          <a:prstGeom prst="rect">
            <a:avLst/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0" y="3556000"/>
            <a:ext cx="863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Analyse et Conception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0" y="4318000"/>
            <a:ext cx="8636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Etude fonctionnelle et conceptuelle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0" y="5080000"/>
            <a:ext cx="812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Acteurs, besoins fonctionnels, regles de gestion, diagrammes UML et modele de donnees.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Acteurs et Besoins Fonctionnels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62000" y="1371600"/>
            <a:ext cx="381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Acteurs du systeme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752600"/>
          <a:ext cx="6858000" cy="222250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Acteur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Role principal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Utilisateur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Creer compte, passer quiz, consulter score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API Express/MongoDB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Authentifier, fournir questions, sauvegarder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Ollama IA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Generer reponses conversationnelles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Services Android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Camera, micro, localisation, Maps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762000" y="4165600"/>
            <a:ext cx="635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Besoins fonctionnels prioritaires</a:t>
            </a:r>
            <a:endParaRPr lang="en-US" sz="16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4546600"/>
          <a:ext cx="14732000" cy="3644904"/>
        </p:xfrm>
        <a:graphic>
          <a:graphicData uri="http://schemas.openxmlformats.org/drawingml/2006/table">
            <a:tbl>
              <a:tblPr/>
              <a:tblGrid>
                <a:gridCol w="147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Besoin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Priorite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Validation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BF01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Creer un compte avec nom, email, campus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Compte cree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BF03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Se connecter avec email et mot de passe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Token obtenu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BF04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Charger les questions depuis MongoDB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Questions affichees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BF05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Selectionner une option pour chaque question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Progression quiz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BF06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Calculer les scores par filiere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Scores par domaine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BF07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Afficher la filiere recommandee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Resultat clair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BF09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Sauvegarder le score dans MongoDB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Insertion OK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BF11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Poser une question au chatbot EMSI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Reponse generee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BF02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Ajouter une photo de profil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Moyenne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Image visible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BF12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Dicter une question avec le micro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Moyenne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Texte reconnu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37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BF13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Trouver le campus proche avec GPS/Maps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Moyenne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Distance calculee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Regles de Gestion et Conception UML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62000" y="1371600"/>
            <a:ext cx="381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Regles de gestion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2000" y="1778000"/>
            <a:ext cx="7112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RG01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Champs obligatoires pour inscription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RG02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Mot de passe et confirmation identiques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RG03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Campus dans la liste proposee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RG04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Option selectionnee pour valider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RG05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Option associee a une seule filiere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RG06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Score incremente a chaque reponse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28000" y="1778000"/>
            <a:ext cx="7366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RG07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Filiere recommandee = score max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RG08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Score associe a l'utilisateur connecte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RG09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Chatbot en francais, cadre EMSI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RG10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Permission requise pour localisation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RG11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Permission micro pour saisie vocale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RG12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Message clair si service indisponible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2000" y="4889500"/>
            <a:ext cx="635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Diagrammes UML realises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62000" y="5334000"/>
            <a:ext cx="3429000" cy="13970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71550" y="5524500"/>
            <a:ext cx="444500" cy="355600"/>
          </a:xfrm>
          <a:custGeom>
            <a:avLst/>
            <a:gdLst/>
            <a:ahLst/>
            <a:cxnLst/>
            <a:rect l="l" t="t" r="r" b="b"/>
            <a:pathLst>
              <a:path w="444500" h="355600">
                <a:moveTo>
                  <a:pt x="222250" y="11112"/>
                </a:moveTo>
                <a:cubicBezTo>
                  <a:pt x="262116" y="11112"/>
                  <a:pt x="294481" y="43478"/>
                  <a:pt x="294481" y="83344"/>
                </a:cubicBezTo>
                <a:cubicBezTo>
                  <a:pt x="294481" y="123209"/>
                  <a:pt x="262116" y="155575"/>
                  <a:pt x="222250" y="155575"/>
                </a:cubicBezTo>
                <a:cubicBezTo>
                  <a:pt x="182384" y="155575"/>
                  <a:pt x="150019" y="123209"/>
                  <a:pt x="150019" y="83344"/>
                </a:cubicBezTo>
                <a:cubicBezTo>
                  <a:pt x="150019" y="43478"/>
                  <a:pt x="182384" y="11113"/>
                  <a:pt x="222250" y="11112"/>
                </a:cubicBezTo>
                <a:close/>
                <a:moveTo>
                  <a:pt x="66675" y="61119"/>
                </a:moveTo>
                <a:cubicBezTo>
                  <a:pt x="94274" y="61119"/>
                  <a:pt x="116681" y="83526"/>
                  <a:pt x="116681" y="111125"/>
                </a:cubicBezTo>
                <a:cubicBezTo>
                  <a:pt x="116681" y="138724"/>
                  <a:pt x="94274" y="161131"/>
                  <a:pt x="66675" y="161131"/>
                </a:cubicBezTo>
                <a:cubicBezTo>
                  <a:pt x="39076" y="161131"/>
                  <a:pt x="16669" y="138724"/>
                  <a:pt x="16669" y="111125"/>
                </a:cubicBezTo>
                <a:cubicBezTo>
                  <a:pt x="16669" y="83526"/>
                  <a:pt x="39076" y="61119"/>
                  <a:pt x="66675" y="61119"/>
                </a:cubicBezTo>
                <a:close/>
                <a:moveTo>
                  <a:pt x="0" y="288925"/>
                </a:moveTo>
                <a:cubicBezTo>
                  <a:pt x="0" y="239822"/>
                  <a:pt x="39797" y="200025"/>
                  <a:pt x="88900" y="200025"/>
                </a:cubicBezTo>
                <a:cubicBezTo>
                  <a:pt x="97790" y="200025"/>
                  <a:pt x="106402" y="201345"/>
                  <a:pt x="114528" y="203775"/>
                </a:cubicBezTo>
                <a:cubicBezTo>
                  <a:pt x="91678" y="229334"/>
                  <a:pt x="77788" y="263088"/>
                  <a:pt x="77788" y="300038"/>
                </a:cubicBezTo>
                <a:lnTo>
                  <a:pt x="77788" y="311150"/>
                </a:lnTo>
                <a:cubicBezTo>
                  <a:pt x="77788" y="319068"/>
                  <a:pt x="79454" y="326569"/>
                  <a:pt x="82441" y="333375"/>
                </a:cubicBezTo>
                <a:lnTo>
                  <a:pt x="22225" y="333375"/>
                </a:lnTo>
                <a:cubicBezTo>
                  <a:pt x="9932" y="333375"/>
                  <a:pt x="0" y="323443"/>
                  <a:pt x="0" y="311150"/>
                </a:cubicBezTo>
                <a:lnTo>
                  <a:pt x="0" y="288925"/>
                </a:lnTo>
                <a:close/>
                <a:moveTo>
                  <a:pt x="362059" y="333375"/>
                </a:moveTo>
                <a:cubicBezTo>
                  <a:pt x="365046" y="326569"/>
                  <a:pt x="366712" y="319068"/>
                  <a:pt x="366712" y="311150"/>
                </a:cubicBezTo>
                <a:lnTo>
                  <a:pt x="366712" y="300038"/>
                </a:lnTo>
                <a:cubicBezTo>
                  <a:pt x="366712" y="263088"/>
                  <a:pt x="352822" y="229334"/>
                  <a:pt x="329972" y="203775"/>
                </a:cubicBezTo>
                <a:cubicBezTo>
                  <a:pt x="338098" y="201345"/>
                  <a:pt x="346710" y="200025"/>
                  <a:pt x="355600" y="200025"/>
                </a:cubicBezTo>
                <a:cubicBezTo>
                  <a:pt x="404703" y="200025"/>
                  <a:pt x="444500" y="239822"/>
                  <a:pt x="444500" y="288925"/>
                </a:cubicBezTo>
                <a:lnTo>
                  <a:pt x="444500" y="311150"/>
                </a:lnTo>
                <a:cubicBezTo>
                  <a:pt x="444500" y="323443"/>
                  <a:pt x="434568" y="333375"/>
                  <a:pt x="422275" y="333375"/>
                </a:cubicBezTo>
                <a:lnTo>
                  <a:pt x="362059" y="333375"/>
                </a:lnTo>
                <a:close/>
                <a:moveTo>
                  <a:pt x="327819" y="111125"/>
                </a:moveTo>
                <a:cubicBezTo>
                  <a:pt x="327819" y="83526"/>
                  <a:pt x="350226" y="61119"/>
                  <a:pt x="377825" y="61119"/>
                </a:cubicBezTo>
                <a:cubicBezTo>
                  <a:pt x="405424" y="61119"/>
                  <a:pt x="427831" y="83526"/>
                  <a:pt x="427831" y="111125"/>
                </a:cubicBezTo>
                <a:cubicBezTo>
                  <a:pt x="427831" y="138724"/>
                  <a:pt x="405424" y="161131"/>
                  <a:pt x="377825" y="161131"/>
                </a:cubicBezTo>
                <a:cubicBezTo>
                  <a:pt x="350226" y="161131"/>
                  <a:pt x="327819" y="138724"/>
                  <a:pt x="327819" y="111125"/>
                </a:cubicBezTo>
                <a:close/>
                <a:moveTo>
                  <a:pt x="111125" y="300038"/>
                </a:moveTo>
                <a:cubicBezTo>
                  <a:pt x="111125" y="238641"/>
                  <a:pt x="160853" y="188913"/>
                  <a:pt x="222250" y="188913"/>
                </a:cubicBezTo>
                <a:cubicBezTo>
                  <a:pt x="283647" y="188913"/>
                  <a:pt x="333375" y="238641"/>
                  <a:pt x="333375" y="300038"/>
                </a:cubicBezTo>
                <a:lnTo>
                  <a:pt x="333375" y="311150"/>
                </a:lnTo>
                <a:cubicBezTo>
                  <a:pt x="333375" y="323443"/>
                  <a:pt x="323443" y="333375"/>
                  <a:pt x="311150" y="333375"/>
                </a:cubicBezTo>
                <a:lnTo>
                  <a:pt x="133350" y="333375"/>
                </a:lnTo>
                <a:cubicBezTo>
                  <a:pt x="121057" y="333375"/>
                  <a:pt x="111125" y="323443"/>
                  <a:pt x="111125" y="311150"/>
                </a:cubicBezTo>
                <a:lnTo>
                  <a:pt x="111125" y="300038"/>
                </a:ln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473200" y="55245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Cas d'utilisation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16000" y="5969000"/>
            <a:ext cx="292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3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Fonctions autour de l'utilisateur avec acteurs externes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445000" y="5334000"/>
            <a:ext cx="3429000" cy="13970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99000" y="5524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55563"/>
                </a:moveTo>
                <a:cubicBezTo>
                  <a:pt x="0" y="37157"/>
                  <a:pt x="14932" y="22225"/>
                  <a:pt x="33337" y="22225"/>
                </a:cubicBezTo>
                <a:lnTo>
                  <a:pt x="100013" y="22225"/>
                </a:lnTo>
                <a:cubicBezTo>
                  <a:pt x="118418" y="22225"/>
                  <a:pt x="133350" y="37157"/>
                  <a:pt x="133350" y="55563"/>
                </a:cubicBezTo>
                <a:lnTo>
                  <a:pt x="133350" y="66675"/>
                </a:lnTo>
                <a:lnTo>
                  <a:pt x="222250" y="66675"/>
                </a:lnTo>
                <a:lnTo>
                  <a:pt x="222250" y="55563"/>
                </a:lnTo>
                <a:cubicBezTo>
                  <a:pt x="222250" y="37157"/>
                  <a:pt x="237182" y="22225"/>
                  <a:pt x="255587" y="22225"/>
                </a:cubicBezTo>
                <a:lnTo>
                  <a:pt x="322263" y="22225"/>
                </a:lnTo>
                <a:cubicBezTo>
                  <a:pt x="340668" y="22225"/>
                  <a:pt x="355600" y="37157"/>
                  <a:pt x="355600" y="55563"/>
                </a:cubicBezTo>
                <a:lnTo>
                  <a:pt x="355600" y="122238"/>
                </a:lnTo>
                <a:cubicBezTo>
                  <a:pt x="355600" y="140643"/>
                  <a:pt x="340668" y="155575"/>
                  <a:pt x="322263" y="155575"/>
                </a:cubicBezTo>
                <a:lnTo>
                  <a:pt x="255587" y="155575"/>
                </a:lnTo>
                <a:cubicBezTo>
                  <a:pt x="237182" y="155575"/>
                  <a:pt x="222250" y="140643"/>
                  <a:pt x="222250" y="122238"/>
                </a:cubicBezTo>
                <a:lnTo>
                  <a:pt x="222250" y="111125"/>
                </a:lnTo>
                <a:lnTo>
                  <a:pt x="133350" y="111125"/>
                </a:lnTo>
                <a:lnTo>
                  <a:pt x="133350" y="122238"/>
                </a:lnTo>
                <a:cubicBezTo>
                  <a:pt x="133350" y="127308"/>
                  <a:pt x="132169" y="132169"/>
                  <a:pt x="130155" y="136475"/>
                </a:cubicBezTo>
                <a:lnTo>
                  <a:pt x="177800" y="200025"/>
                </a:lnTo>
                <a:lnTo>
                  <a:pt x="233363" y="200025"/>
                </a:lnTo>
                <a:cubicBezTo>
                  <a:pt x="251768" y="200025"/>
                  <a:pt x="266700" y="214957"/>
                  <a:pt x="266700" y="233363"/>
                </a:cubicBezTo>
                <a:lnTo>
                  <a:pt x="266700" y="300038"/>
                </a:lnTo>
                <a:cubicBezTo>
                  <a:pt x="266700" y="318443"/>
                  <a:pt x="251768" y="333375"/>
                  <a:pt x="233363" y="333375"/>
                </a:cubicBezTo>
                <a:lnTo>
                  <a:pt x="166688" y="333375"/>
                </a:lnTo>
                <a:cubicBezTo>
                  <a:pt x="148282" y="333375"/>
                  <a:pt x="133350" y="318443"/>
                  <a:pt x="133350" y="300038"/>
                </a:cubicBezTo>
                <a:lnTo>
                  <a:pt x="133350" y="233363"/>
                </a:lnTo>
                <a:cubicBezTo>
                  <a:pt x="133350" y="228292"/>
                  <a:pt x="134531" y="223431"/>
                  <a:pt x="136545" y="219125"/>
                </a:cubicBezTo>
                <a:lnTo>
                  <a:pt x="88900" y="155575"/>
                </a:lnTo>
                <a:lnTo>
                  <a:pt x="33337" y="155575"/>
                </a:lnTo>
                <a:cubicBezTo>
                  <a:pt x="14932" y="155575"/>
                  <a:pt x="0" y="140643"/>
                  <a:pt x="0" y="122238"/>
                </a:cubicBezTo>
                <a:lnTo>
                  <a:pt x="0" y="55563"/>
                </a:ln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56200" y="55245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Sequence - Quiz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99000" y="5969000"/>
            <a:ext cx="292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3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Chargement API, affichage, calcul score, sauvegarde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28000" y="5334000"/>
            <a:ext cx="3429000" cy="13970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359775" y="55245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266700" y="100013"/>
                </a:moveTo>
                <a:cubicBezTo>
                  <a:pt x="266700" y="167521"/>
                  <a:pt x="206970" y="222250"/>
                  <a:pt x="133350" y="222250"/>
                </a:cubicBezTo>
                <a:cubicBezTo>
                  <a:pt x="114806" y="222250"/>
                  <a:pt x="97165" y="218777"/>
                  <a:pt x="81121" y="212527"/>
                </a:cubicBezTo>
                <a:lnTo>
                  <a:pt x="24448" y="242530"/>
                </a:lnTo>
                <a:cubicBezTo>
                  <a:pt x="17988" y="245934"/>
                  <a:pt x="10071" y="244753"/>
                  <a:pt x="4862" y="239613"/>
                </a:cubicBezTo>
                <a:cubicBezTo>
                  <a:pt x="-347" y="234474"/>
                  <a:pt x="-1528" y="226487"/>
                  <a:pt x="1945" y="220028"/>
                </a:cubicBezTo>
                <a:lnTo>
                  <a:pt x="26670" y="173355"/>
                </a:lnTo>
                <a:cubicBezTo>
                  <a:pt x="9932" y="152936"/>
                  <a:pt x="0" y="127516"/>
                  <a:pt x="0" y="100013"/>
                </a:cubicBezTo>
                <a:cubicBezTo>
                  <a:pt x="0" y="32504"/>
                  <a:pt x="59730" y="-22225"/>
                  <a:pt x="133350" y="-22225"/>
                </a:cubicBezTo>
                <a:cubicBezTo>
                  <a:pt x="206970" y="-22225"/>
                  <a:pt x="266700" y="32504"/>
                  <a:pt x="266700" y="100013"/>
                </a:cubicBezTo>
                <a:close/>
                <a:moveTo>
                  <a:pt x="266700" y="355600"/>
                </a:moveTo>
                <a:cubicBezTo>
                  <a:pt x="201345" y="355600"/>
                  <a:pt x="146963" y="312470"/>
                  <a:pt x="135572" y="255587"/>
                </a:cubicBezTo>
                <a:cubicBezTo>
                  <a:pt x="218916" y="254546"/>
                  <a:pt x="291356" y="195233"/>
                  <a:pt x="299343" y="114806"/>
                </a:cubicBezTo>
                <a:cubicBezTo>
                  <a:pt x="357197" y="128141"/>
                  <a:pt x="400050" y="176133"/>
                  <a:pt x="400050" y="233363"/>
                </a:cubicBezTo>
                <a:cubicBezTo>
                  <a:pt x="400050" y="260866"/>
                  <a:pt x="390118" y="286286"/>
                  <a:pt x="373380" y="306705"/>
                </a:cubicBezTo>
                <a:lnTo>
                  <a:pt x="398105" y="353378"/>
                </a:lnTo>
                <a:cubicBezTo>
                  <a:pt x="401509" y="359837"/>
                  <a:pt x="400328" y="367754"/>
                  <a:pt x="395188" y="372963"/>
                </a:cubicBezTo>
                <a:cubicBezTo>
                  <a:pt x="390049" y="378172"/>
                  <a:pt x="382062" y="379353"/>
                  <a:pt x="375602" y="375880"/>
                </a:cubicBezTo>
                <a:lnTo>
                  <a:pt x="318929" y="345877"/>
                </a:lnTo>
                <a:cubicBezTo>
                  <a:pt x="302885" y="352127"/>
                  <a:pt x="285244" y="355600"/>
                  <a:pt x="266700" y="355600"/>
                </a:cubicBez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839200" y="55245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Sequence - Chatbot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82000" y="5969000"/>
            <a:ext cx="292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3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Prompt systeme, envoi Ollama, generation reponse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1811000" y="5334000"/>
            <a:ext cx="3683000" cy="13970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2065000" y="5524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33350" y="44450"/>
                </a:moveTo>
                <a:cubicBezTo>
                  <a:pt x="133350" y="32157"/>
                  <a:pt x="143282" y="22225"/>
                  <a:pt x="155575" y="22225"/>
                </a:cubicBezTo>
                <a:lnTo>
                  <a:pt x="200025" y="22225"/>
                </a:lnTo>
                <a:cubicBezTo>
                  <a:pt x="212318" y="22225"/>
                  <a:pt x="222250" y="32157"/>
                  <a:pt x="222250" y="44450"/>
                </a:cubicBezTo>
                <a:lnTo>
                  <a:pt x="222250" y="88900"/>
                </a:lnTo>
                <a:cubicBezTo>
                  <a:pt x="222250" y="101193"/>
                  <a:pt x="212318" y="111125"/>
                  <a:pt x="200025" y="111125"/>
                </a:cubicBezTo>
                <a:lnTo>
                  <a:pt x="194469" y="111125"/>
                </a:lnTo>
                <a:lnTo>
                  <a:pt x="194469" y="155575"/>
                </a:lnTo>
                <a:lnTo>
                  <a:pt x="277813" y="155575"/>
                </a:lnTo>
                <a:cubicBezTo>
                  <a:pt x="305455" y="155575"/>
                  <a:pt x="327819" y="177939"/>
                  <a:pt x="327819" y="205581"/>
                </a:cubicBezTo>
                <a:lnTo>
                  <a:pt x="327819" y="244475"/>
                </a:lnTo>
                <a:lnTo>
                  <a:pt x="333375" y="244475"/>
                </a:lnTo>
                <a:cubicBezTo>
                  <a:pt x="345668" y="244475"/>
                  <a:pt x="355600" y="254407"/>
                  <a:pt x="355600" y="266700"/>
                </a:cubicBezTo>
                <a:lnTo>
                  <a:pt x="355600" y="311150"/>
                </a:lnTo>
                <a:cubicBezTo>
                  <a:pt x="355600" y="323443"/>
                  <a:pt x="345668" y="333375"/>
                  <a:pt x="333375" y="333375"/>
                </a:cubicBezTo>
                <a:lnTo>
                  <a:pt x="288925" y="333375"/>
                </a:lnTo>
                <a:cubicBezTo>
                  <a:pt x="276632" y="333375"/>
                  <a:pt x="266700" y="323443"/>
                  <a:pt x="266700" y="311150"/>
                </a:cubicBezTo>
                <a:lnTo>
                  <a:pt x="266700" y="266700"/>
                </a:lnTo>
                <a:cubicBezTo>
                  <a:pt x="266700" y="254407"/>
                  <a:pt x="276632" y="244475"/>
                  <a:pt x="288925" y="244475"/>
                </a:cubicBezTo>
                <a:lnTo>
                  <a:pt x="294481" y="244475"/>
                </a:lnTo>
                <a:lnTo>
                  <a:pt x="294481" y="205581"/>
                </a:lnTo>
                <a:cubicBezTo>
                  <a:pt x="294481" y="196344"/>
                  <a:pt x="287050" y="188913"/>
                  <a:pt x="277813" y="188913"/>
                </a:cubicBezTo>
                <a:lnTo>
                  <a:pt x="194469" y="188913"/>
                </a:lnTo>
                <a:lnTo>
                  <a:pt x="194469" y="244475"/>
                </a:lnTo>
                <a:lnTo>
                  <a:pt x="200025" y="244475"/>
                </a:lnTo>
                <a:cubicBezTo>
                  <a:pt x="212318" y="244475"/>
                  <a:pt x="222250" y="254407"/>
                  <a:pt x="222250" y="266700"/>
                </a:cubicBezTo>
                <a:lnTo>
                  <a:pt x="222250" y="311150"/>
                </a:lnTo>
                <a:cubicBezTo>
                  <a:pt x="222250" y="323443"/>
                  <a:pt x="212318" y="333375"/>
                  <a:pt x="200025" y="333375"/>
                </a:cubicBezTo>
                <a:lnTo>
                  <a:pt x="155575" y="333375"/>
                </a:lnTo>
                <a:cubicBezTo>
                  <a:pt x="143282" y="333375"/>
                  <a:pt x="133350" y="323443"/>
                  <a:pt x="133350" y="311150"/>
                </a:cubicBezTo>
                <a:lnTo>
                  <a:pt x="133350" y="266700"/>
                </a:lnTo>
                <a:cubicBezTo>
                  <a:pt x="133350" y="254407"/>
                  <a:pt x="143282" y="244475"/>
                  <a:pt x="155575" y="244475"/>
                </a:cubicBezTo>
                <a:lnTo>
                  <a:pt x="161131" y="244475"/>
                </a:lnTo>
                <a:lnTo>
                  <a:pt x="161131" y="188913"/>
                </a:lnTo>
                <a:lnTo>
                  <a:pt x="77788" y="188913"/>
                </a:lnTo>
                <a:cubicBezTo>
                  <a:pt x="68550" y="188913"/>
                  <a:pt x="61119" y="196344"/>
                  <a:pt x="61119" y="205581"/>
                </a:cubicBezTo>
                <a:lnTo>
                  <a:pt x="61119" y="244475"/>
                </a:lnTo>
                <a:lnTo>
                  <a:pt x="66675" y="244475"/>
                </a:lnTo>
                <a:cubicBezTo>
                  <a:pt x="78968" y="244475"/>
                  <a:pt x="88900" y="254407"/>
                  <a:pt x="88900" y="266700"/>
                </a:cubicBezTo>
                <a:lnTo>
                  <a:pt x="88900" y="311150"/>
                </a:lnTo>
                <a:cubicBezTo>
                  <a:pt x="88900" y="323443"/>
                  <a:pt x="78968" y="333375"/>
                  <a:pt x="66675" y="333375"/>
                </a:cubicBezTo>
                <a:lnTo>
                  <a:pt x="22225" y="333375"/>
                </a:lnTo>
                <a:cubicBezTo>
                  <a:pt x="9932" y="333375"/>
                  <a:pt x="0" y="323443"/>
                  <a:pt x="0" y="311150"/>
                </a:cubicBezTo>
                <a:lnTo>
                  <a:pt x="0" y="266700"/>
                </a:lnTo>
                <a:cubicBezTo>
                  <a:pt x="0" y="254407"/>
                  <a:pt x="9932" y="244475"/>
                  <a:pt x="22225" y="244475"/>
                </a:cubicBezTo>
                <a:lnTo>
                  <a:pt x="27781" y="244475"/>
                </a:lnTo>
                <a:lnTo>
                  <a:pt x="27781" y="205581"/>
                </a:lnTo>
                <a:cubicBezTo>
                  <a:pt x="27781" y="177939"/>
                  <a:pt x="50145" y="155575"/>
                  <a:pt x="77788" y="155575"/>
                </a:cubicBezTo>
                <a:lnTo>
                  <a:pt x="161131" y="155575"/>
                </a:lnTo>
                <a:lnTo>
                  <a:pt x="161131" y="111125"/>
                </a:lnTo>
                <a:lnTo>
                  <a:pt x="155575" y="111125"/>
                </a:lnTo>
                <a:cubicBezTo>
                  <a:pt x="143282" y="111125"/>
                  <a:pt x="133350" y="101193"/>
                  <a:pt x="133350" y="88900"/>
                </a:cubicBezTo>
                <a:lnTo>
                  <a:pt x="133350" y="44450"/>
                </a:ln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2522200" y="5524500"/>
            <a:ext cx="279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Activite - Quiz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065000" y="5969000"/>
            <a:ext cx="317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3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Logique d'etat : question, options, score, fin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62000" y="69850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Scenario nominal du quiz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62000" y="7391400"/>
            <a:ext cx="1473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Connexion → </a:t>
            </a: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Chargement questions API → </a:t>
            </a: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Affichage question → </a:t>
            </a: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Selection option → </a:t>
            </a: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5.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Increment score filiere → </a:t>
            </a: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6.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Question suivante → </a:t>
            </a: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7.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Ecran Score → </a:t>
            </a: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8.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Sauvegarde MongoDB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Modele de Donnees NoSQL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62000" y="13716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Structure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NoSQL flexible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adaptee au quiz dynamique et a la sauvegarde des scores, equilibre simplicite et extensibilite.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133600"/>
          <a:ext cx="14732000" cy="3428999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1658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Entite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Attributs principaux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Role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65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User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id, name, email, school, token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Utilisateur connecte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65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Question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question_id, question_text, order_index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Enonce et ordre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65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QuestionOption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option_id, question_id, option_text, target_major_code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Lien option-filiere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65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UserScore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user_id, scores par filiere, created_at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Resultat conserve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65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ChatMessage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content, isUser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Historique chatbot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9051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Campus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name, latitude, longitude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Calcul distance + Maps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762000" y="58166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Tracabilite besoins → composants</a:t>
            </a:r>
            <a:endParaRPr lang="en-US" sz="16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6248400"/>
          <a:ext cx="14732000" cy="1917700"/>
        </p:xfrm>
        <a:graphic>
          <a:graphicData uri="http://schemas.openxmlformats.org/drawingml/2006/table">
            <a:tbl>
              <a:tblPr/>
              <a:tblGrid>
                <a:gridCol w="368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354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Besoin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Composant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Verification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Creation de compte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Register.kt, AuthHelper, API /register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Compte cree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Quiz dynamique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QuizActivity.java, API /questions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Questions chargees depuis MongoDB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Calcul de score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QuizActivity.java, Score.java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Filiere recommandee coherente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Assistant IA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ChatbotActivity.java, GroqChatService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Reponse en francais centree EMSI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0" cy="91440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2794000"/>
            <a:ext cx="45720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600" b="1" dirty="0">
                <a:solidFill>
                  <a:srgbClr val="FFFFFF">
                    <a:alpha val="18824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62000" y="4318000"/>
            <a:ext cx="457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kern="0" spc="3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CHAPITRE 3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4826000"/>
            <a:ext cx="762000" cy="38100"/>
          </a:xfrm>
          <a:prstGeom prst="rect">
            <a:avLst/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0" y="3556000"/>
            <a:ext cx="863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0" y="4318000"/>
            <a:ext cx="8636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Architecture, technologies et backend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0" y="5080000"/>
            <a:ext cx="812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 du projet, technologies utilisees, environnement de travail et API backend.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Architecture du Projet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62000" y="13716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 en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 couches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avec separation des responsabilites, volontairement simple pour un PFA tout en demontrant une vraie structuration.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62000" y="2159000"/>
            <a:ext cx="14732000" cy="1016000"/>
          </a:xfrm>
          <a:prstGeom prst="rect">
            <a:avLst/>
          </a:prstGeom>
          <a:solidFill>
            <a:srgbClr val="1B5E3B">
              <a:alpha val="9412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62000" y="2159000"/>
            <a:ext cx="76200" cy="10160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16000" y="22225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Presentation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6000" y="2578100"/>
            <a:ext cx="1422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MainActivity, Register, QuizActivity, Score, ChatbotActivity — affichage, clics et navigation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2000" y="3276600"/>
            <a:ext cx="14732000" cy="1016000"/>
          </a:xfrm>
          <a:prstGeom prst="rect">
            <a:avLst/>
          </a:prstGeom>
          <a:solidFill>
            <a:srgbClr val="1B5E3B">
              <a:alpha val="7059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62000" y="3276600"/>
            <a:ext cx="76200" cy="1016000"/>
          </a:xfrm>
          <a:prstGeom prst="rect">
            <a:avLst/>
          </a:prstGeom>
          <a:solidFill>
            <a:srgbClr val="2E7D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16000" y="3340100"/>
            <a:ext cx="317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2E7D4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Services Android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16000" y="3695700"/>
            <a:ext cx="1422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Camera, galerie, micro, localisation, Maps Intent — capacites natives du telephone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2000" y="4394200"/>
            <a:ext cx="14732000" cy="1016000"/>
          </a:xfrm>
          <a:prstGeom prst="rect">
            <a:avLst/>
          </a:prstGeom>
          <a:solidFill>
            <a:srgbClr val="1B5E3B">
              <a:alpha val="470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62000" y="4394200"/>
            <a:ext cx="76200" cy="1016000"/>
          </a:xfrm>
          <a:prstGeom prst="rect">
            <a:avLst/>
          </a:prstGeom>
          <a:solidFill>
            <a:srgbClr val="4A9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16000" y="44577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4A9B6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Integration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16000" y="4813300"/>
            <a:ext cx="1422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AuthHelper, ApiConfig, ApiService, GroqChatService, OllamaDiscovery — appels reseau centralises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2000" y="5511800"/>
            <a:ext cx="14732000" cy="1016000"/>
          </a:xfrm>
          <a:prstGeom prst="rect">
            <a:avLst/>
          </a:prstGeom>
          <a:solidFill>
            <a:srgbClr val="C8953C">
              <a:alpha val="7059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62000" y="5511800"/>
            <a:ext cx="76200" cy="1016000"/>
          </a:xfrm>
          <a:prstGeom prst="rect">
            <a:avLst/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16000" y="55753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A67C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Backend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16000" y="5930900"/>
            <a:ext cx="1422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Express, MongoDB, routes auth/questions/scores — authentification, donnees et persistance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62000" y="6629400"/>
            <a:ext cx="14732000" cy="1016000"/>
          </a:xfrm>
          <a:prstGeom prst="rect">
            <a:avLst/>
          </a:prstGeom>
          <a:solidFill>
            <a:srgbClr val="C8953C">
              <a:alpha val="9412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62000" y="6629400"/>
            <a:ext cx="76200" cy="1016000"/>
          </a:xfrm>
          <a:prstGeom prst="rect">
            <a:avLst/>
          </a:prstGeom>
          <a:solidFill>
            <a:srgbClr val="8B6D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16000" y="66929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8B6D2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Intelligence Artificielle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16000" y="7048500"/>
            <a:ext cx="1422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Ollama local et modele llama3.2 — generation des reponses du chatbot EMSI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62000" y="78486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i="1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Principe : interface Android pour l'experience, backend pour les donnees, Ollama pour l'assistance, services Android pour les fonctions avancees.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Technologies Utilisees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397000"/>
          <a:ext cx="14732000" cy="4699006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4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Technologie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Utilisation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Justification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Android SDK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Base application native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Acces direct composants mobiles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Java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Activites principales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Lisibilite et compatibilite Android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Kotlin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Modeles, helpers, inscription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Syntaxe moderne, coroutines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Gradle Kotlin DSL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Configuration build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Centralisation dependances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Express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API backend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Routes simples et rapides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MongoDB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Stockage utilisateurs, questions, scores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Structure flexible pour le quiz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Retrofit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Client HTTP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Appels API structures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OkHttp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Intercepteurs et logs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Debug reseau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MPAndroidChart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Radar chart scores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Visualisation des scores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Ollama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Assistant local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IA accessible en demonstration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SpeechRecognizer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Question vocale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Interaction naturelle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146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Location/Maps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Campus proche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Fonction geographique mobile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762000" y="62865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Environnement de travail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62000" y="6705600"/>
            <a:ext cx="6858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Android Studio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Gradle Kotlin DSL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Compile SDK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36 | </a:t>
            </a: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Min SDK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26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Backend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Node.js + Express + MongoDB (port 3000)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128000" y="6705600"/>
            <a:ext cx="7366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IA locale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Ollama (port 11434)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Versioning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Git + GitHub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Lancement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lancer_projet_local.bat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ADB</a:t>
            </a: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reverseLocalPorts pour telephone USB</a:t>
            </a:r>
            <a:endParaRPr lang="en-US" sz="1600" dirty="0"/>
          </a:p>
        </p:txBody>
      </p:sp>
      <p:sp>
        <p:nvSpPr>
          <p:cNvPr id="10" name="Text 11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13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Backend Express et Configuration Reseau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62000" y="13716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Endpoints API REST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778000"/>
          <a:ext cx="6858000" cy="2667000"/>
        </p:xfrm>
        <a:graphic>
          <a:graphicData uri="http://schemas.openxmlformats.org/drawingml/2006/table">
            <a:tbl>
              <a:tblPr/>
              <a:tblGrid>
                <a:gridCol w="308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Endpoint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Methode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Role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/api/auth/register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POST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Creer compte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/api/auth/login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POST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Authentifier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/api/questions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GET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Fournir quiz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/api/scores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POST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Sauvegarder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/api/scores/latest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GET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Dernier score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8128000" y="13716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Securite et performances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128000" y="1778000"/>
            <a:ext cx="7366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JWT</a:t>
            </a:r>
            <a:r>
              <a:rPr lang="en-US" sz="15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token securise pour routes protegees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Validation champs</a:t>
            </a:r>
            <a:r>
              <a:rPr lang="en-US" sz="15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saisies verifiees cote client et serveur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Threads</a:t>
            </a:r>
            <a:r>
              <a:rPr lang="en-US" sz="15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appels reseau hors thread principal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Coroutines Kotlin</a:t>
            </a:r>
            <a:r>
              <a:rPr lang="en-US" sz="15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operations asynchrones propres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Fallback</a:t>
            </a:r>
            <a:r>
              <a:rPr lang="en-US" sz="15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URL de repli si Ollama indisponible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62000" y="4699000"/>
            <a:ext cx="635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Configuration reseau par contexte</a:t>
            </a:r>
            <a:endParaRPr lang="en-US" sz="16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5105400"/>
          <a:ext cx="14732000" cy="2159000"/>
        </p:xfrm>
        <a:graphic>
          <a:graphicData uri="http://schemas.openxmlformats.org/drawingml/2006/table">
            <a:tbl>
              <a:tblPr/>
              <a:tblGrid>
                <a:gridCol w="412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14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Contexte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Adresse / Outil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Objectif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Emulateur Android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10.0.2.2:3000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Acceder au backend sur le PC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Telephone sur Wi-Fi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IP locale du PC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Acces backend et Ollama via reseau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Telephone USB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adb reverse tcp:3000 tcp:3000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Rediriger backend vers telephone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762000" y="74930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Evolutions possibles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762000" y="7874000"/>
            <a:ext cx="147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Authentification avancee (roles, sessions) | Back-office CRUD | IA documentaire RAG | Historique scores et statistiques | Notifications push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14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0" cy="91440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2794000"/>
            <a:ext cx="457200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600" b="1" dirty="0">
                <a:solidFill>
                  <a:srgbClr val="FFFFFF">
                    <a:alpha val="18824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62000" y="4318000"/>
            <a:ext cx="457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kern="0" spc="300" dirty="0">
                <a:solidFill>
                  <a:srgbClr val="FFFFFF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CHAPITRE 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4826000"/>
            <a:ext cx="762000" cy="38100"/>
          </a:xfrm>
          <a:prstGeom prst="rect">
            <a:avLst/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0" y="3556000"/>
            <a:ext cx="863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Mise en Oeuvre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0" y="4318000"/>
            <a:ext cx="8636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Realisation, tests et ameliorations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0" y="5080000"/>
            <a:ext cx="812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Ecrans realises, integration backend, chatbot IA, fonctions mobiles, tests et perspectives d'amelioration.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Ecrans Principaux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62000" y="1422400"/>
            <a:ext cx="4699000" cy="22225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16000" y="1549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39613" y="189607"/>
                </a:moveTo>
                <a:cubicBezTo>
                  <a:pt x="246142" y="183078"/>
                  <a:pt x="246142" y="172522"/>
                  <a:pt x="239613" y="166062"/>
                </a:cubicBezTo>
                <a:lnTo>
                  <a:pt x="139601" y="65980"/>
                </a:lnTo>
                <a:cubicBezTo>
                  <a:pt x="134809" y="61188"/>
                  <a:pt x="127655" y="59799"/>
                  <a:pt x="121404" y="62369"/>
                </a:cubicBezTo>
                <a:cubicBezTo>
                  <a:pt x="115153" y="64939"/>
                  <a:pt x="111125" y="71051"/>
                  <a:pt x="111125" y="77788"/>
                </a:cubicBezTo>
                <a:lnTo>
                  <a:pt x="111125" y="133350"/>
                </a:lnTo>
                <a:lnTo>
                  <a:pt x="33337" y="133350"/>
                </a:lnTo>
                <a:cubicBezTo>
                  <a:pt x="14932" y="133350"/>
                  <a:pt x="0" y="148282"/>
                  <a:pt x="0" y="166688"/>
                </a:cubicBezTo>
                <a:lnTo>
                  <a:pt x="0" y="188913"/>
                </a:lnTo>
                <a:cubicBezTo>
                  <a:pt x="0" y="207318"/>
                  <a:pt x="14932" y="222250"/>
                  <a:pt x="33337" y="222250"/>
                </a:cubicBezTo>
                <a:lnTo>
                  <a:pt x="111125" y="222250"/>
                </a:lnTo>
                <a:lnTo>
                  <a:pt x="111125" y="277813"/>
                </a:lnTo>
                <a:cubicBezTo>
                  <a:pt x="111125" y="284549"/>
                  <a:pt x="115153" y="290661"/>
                  <a:pt x="121404" y="293231"/>
                </a:cubicBezTo>
                <a:cubicBezTo>
                  <a:pt x="127655" y="295801"/>
                  <a:pt x="134809" y="294412"/>
                  <a:pt x="139601" y="289620"/>
                </a:cubicBezTo>
                <a:lnTo>
                  <a:pt x="239613" y="189607"/>
                </a:lnTo>
                <a:close/>
                <a:moveTo>
                  <a:pt x="244475" y="288925"/>
                </a:moveTo>
                <a:cubicBezTo>
                  <a:pt x="232182" y="288925"/>
                  <a:pt x="222250" y="298857"/>
                  <a:pt x="222250" y="311150"/>
                </a:cubicBezTo>
                <a:cubicBezTo>
                  <a:pt x="222250" y="323443"/>
                  <a:pt x="232182" y="333375"/>
                  <a:pt x="244475" y="333375"/>
                </a:cubicBezTo>
                <a:lnTo>
                  <a:pt x="288925" y="333375"/>
                </a:lnTo>
                <a:cubicBezTo>
                  <a:pt x="325735" y="333375"/>
                  <a:pt x="355600" y="303510"/>
                  <a:pt x="355600" y="266700"/>
                </a:cubicBezTo>
                <a:lnTo>
                  <a:pt x="355600" y="88900"/>
                </a:lnTo>
                <a:cubicBezTo>
                  <a:pt x="355600" y="52090"/>
                  <a:pt x="325735" y="22225"/>
                  <a:pt x="288925" y="22225"/>
                </a:cubicBezTo>
                <a:lnTo>
                  <a:pt x="244475" y="22225"/>
                </a:lnTo>
                <a:cubicBezTo>
                  <a:pt x="232182" y="22225"/>
                  <a:pt x="222250" y="32157"/>
                  <a:pt x="222250" y="44450"/>
                </a:cubicBezTo>
                <a:cubicBezTo>
                  <a:pt x="222250" y="56743"/>
                  <a:pt x="232182" y="66675"/>
                  <a:pt x="244475" y="66675"/>
                </a:cubicBezTo>
                <a:lnTo>
                  <a:pt x="288925" y="66675"/>
                </a:lnTo>
                <a:cubicBezTo>
                  <a:pt x="301218" y="66675"/>
                  <a:pt x="311150" y="76607"/>
                  <a:pt x="311150" y="88900"/>
                </a:cubicBezTo>
                <a:lnTo>
                  <a:pt x="311150" y="266700"/>
                </a:lnTo>
                <a:cubicBezTo>
                  <a:pt x="311150" y="278993"/>
                  <a:pt x="301218" y="288925"/>
                  <a:pt x="288925" y="288925"/>
                </a:cubicBezTo>
                <a:lnTo>
                  <a:pt x="244475" y="288925"/>
                </a:ln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473200" y="15494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Connexion / Inscription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16000" y="19812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Formulaire email/mot de passe avec validation. Inscription avec choix de campus et photo de profil via camera ou galerie.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15000" y="1422400"/>
            <a:ext cx="4699000" cy="22225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13450" y="1549400"/>
            <a:ext cx="266700" cy="355600"/>
          </a:xfrm>
          <a:custGeom>
            <a:avLst/>
            <a:gdLst/>
            <a:ahLst/>
            <a:cxnLst/>
            <a:rect l="l" t="t" r="r" b="b"/>
            <a:pathLst>
              <a:path w="266700" h="355600">
                <a:moveTo>
                  <a:pt x="216277" y="22225"/>
                </a:moveTo>
                <a:lnTo>
                  <a:pt x="222250" y="22225"/>
                </a:lnTo>
                <a:cubicBezTo>
                  <a:pt x="246767" y="22225"/>
                  <a:pt x="266700" y="42158"/>
                  <a:pt x="266700" y="66675"/>
                </a:cubicBezTo>
                <a:lnTo>
                  <a:pt x="266700" y="311150"/>
                </a:lnTo>
                <a:cubicBezTo>
                  <a:pt x="266700" y="335667"/>
                  <a:pt x="246767" y="355600"/>
                  <a:pt x="222250" y="355600"/>
                </a:cubicBezTo>
                <a:lnTo>
                  <a:pt x="44450" y="355600"/>
                </a:lnTo>
                <a:cubicBezTo>
                  <a:pt x="19933" y="355600"/>
                  <a:pt x="0" y="335667"/>
                  <a:pt x="0" y="311150"/>
                </a:cubicBezTo>
                <a:lnTo>
                  <a:pt x="0" y="66675"/>
                </a:lnTo>
                <a:cubicBezTo>
                  <a:pt x="0" y="42158"/>
                  <a:pt x="19933" y="22225"/>
                  <a:pt x="44450" y="22225"/>
                </a:cubicBezTo>
                <a:lnTo>
                  <a:pt x="50423" y="22225"/>
                </a:lnTo>
                <a:cubicBezTo>
                  <a:pt x="58063" y="8959"/>
                  <a:pt x="72440" y="0"/>
                  <a:pt x="88900" y="0"/>
                </a:cubicBezTo>
                <a:lnTo>
                  <a:pt x="177800" y="0"/>
                </a:lnTo>
                <a:cubicBezTo>
                  <a:pt x="194260" y="0"/>
                  <a:pt x="208637" y="8959"/>
                  <a:pt x="216277" y="22225"/>
                </a:cubicBezTo>
                <a:close/>
                <a:moveTo>
                  <a:pt x="172244" y="77788"/>
                </a:moveTo>
                <a:cubicBezTo>
                  <a:pt x="181481" y="77788"/>
                  <a:pt x="188913" y="70356"/>
                  <a:pt x="188913" y="61119"/>
                </a:cubicBezTo>
                <a:cubicBezTo>
                  <a:pt x="188913" y="51881"/>
                  <a:pt x="181481" y="44450"/>
                  <a:pt x="172244" y="44450"/>
                </a:cubicBezTo>
                <a:lnTo>
                  <a:pt x="94456" y="44450"/>
                </a:lnTo>
                <a:cubicBezTo>
                  <a:pt x="85219" y="44450"/>
                  <a:pt x="77788" y="51881"/>
                  <a:pt x="77788" y="61119"/>
                </a:cubicBezTo>
                <a:cubicBezTo>
                  <a:pt x="77788" y="70356"/>
                  <a:pt x="85219" y="77788"/>
                  <a:pt x="94456" y="77788"/>
                </a:cubicBezTo>
                <a:lnTo>
                  <a:pt x="172244" y="77788"/>
                </a:lnTo>
                <a:close/>
                <a:moveTo>
                  <a:pt x="133350" y="172244"/>
                </a:moveTo>
                <a:cubicBezTo>
                  <a:pt x="144532" y="172244"/>
                  <a:pt x="153630" y="181342"/>
                  <a:pt x="153630" y="192524"/>
                </a:cubicBezTo>
                <a:cubicBezTo>
                  <a:pt x="153630" y="198566"/>
                  <a:pt x="151477" y="202178"/>
                  <a:pt x="148838" y="204817"/>
                </a:cubicBezTo>
                <a:cubicBezTo>
                  <a:pt x="145713" y="207873"/>
                  <a:pt x="141407" y="210026"/>
                  <a:pt x="137170" y="211415"/>
                </a:cubicBezTo>
                <a:cubicBezTo>
                  <a:pt x="126821" y="214888"/>
                  <a:pt x="116681" y="224820"/>
                  <a:pt x="116681" y="238849"/>
                </a:cubicBezTo>
                <a:cubicBezTo>
                  <a:pt x="116681" y="248087"/>
                  <a:pt x="124113" y="255518"/>
                  <a:pt x="133350" y="255518"/>
                </a:cubicBezTo>
                <a:cubicBezTo>
                  <a:pt x="141337" y="255518"/>
                  <a:pt x="148074" y="249892"/>
                  <a:pt x="149671" y="242322"/>
                </a:cubicBezTo>
                <a:cubicBezTo>
                  <a:pt x="163006" y="237391"/>
                  <a:pt x="186968" y="224056"/>
                  <a:pt x="186968" y="192455"/>
                </a:cubicBezTo>
                <a:cubicBezTo>
                  <a:pt x="186968" y="162868"/>
                  <a:pt x="162937" y="138837"/>
                  <a:pt x="133350" y="138837"/>
                </a:cubicBezTo>
                <a:cubicBezTo>
                  <a:pt x="103763" y="138837"/>
                  <a:pt x="79732" y="162868"/>
                  <a:pt x="79732" y="192455"/>
                </a:cubicBezTo>
                <a:cubicBezTo>
                  <a:pt x="79732" y="201692"/>
                  <a:pt x="87164" y="209123"/>
                  <a:pt x="96401" y="209123"/>
                </a:cubicBezTo>
                <a:cubicBezTo>
                  <a:pt x="105638" y="209123"/>
                  <a:pt x="113070" y="201692"/>
                  <a:pt x="113070" y="192455"/>
                </a:cubicBezTo>
                <a:cubicBezTo>
                  <a:pt x="113070" y="181273"/>
                  <a:pt x="122168" y="172174"/>
                  <a:pt x="133350" y="172174"/>
                </a:cubicBezTo>
                <a:close/>
                <a:moveTo>
                  <a:pt x="152797" y="288925"/>
                </a:moveTo>
                <a:cubicBezTo>
                  <a:pt x="152797" y="278160"/>
                  <a:pt x="144115" y="269478"/>
                  <a:pt x="133350" y="269478"/>
                </a:cubicBezTo>
                <a:cubicBezTo>
                  <a:pt x="122585" y="269478"/>
                  <a:pt x="113903" y="278160"/>
                  <a:pt x="113903" y="288925"/>
                </a:cubicBezTo>
                <a:cubicBezTo>
                  <a:pt x="113903" y="299690"/>
                  <a:pt x="122585" y="308372"/>
                  <a:pt x="133350" y="308372"/>
                </a:cubicBezTo>
                <a:cubicBezTo>
                  <a:pt x="144115" y="308372"/>
                  <a:pt x="152797" y="299690"/>
                  <a:pt x="152797" y="288925"/>
                </a:cubicBez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26200" y="15494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Quiz Dynamique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69000" y="19812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Questions et options chargees depuis MongoDB. Selection RadioButton avec tag filiere cible. Verification option obligatoire.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668000" y="1422400"/>
            <a:ext cx="4826000" cy="22225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922000" y="1549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/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1379200" y="1549400"/>
            <a:ext cx="3937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Score et Visualisation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22000" y="1981200"/>
            <a:ext cx="431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Filiere recommandee avec progress bars et radar chart MPAndroidChart. Sauvegarde score dans MongoDB associe au compte.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62000" y="3835400"/>
            <a:ext cx="7239000" cy="22225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71550" y="3962400"/>
            <a:ext cx="444500" cy="355600"/>
          </a:xfrm>
          <a:custGeom>
            <a:avLst/>
            <a:gdLst/>
            <a:ahLst/>
            <a:cxnLst/>
            <a:rect l="l" t="t" r="r" b="b"/>
            <a:pathLst>
              <a:path w="444500" h="355600">
                <a:moveTo>
                  <a:pt x="244475" y="0"/>
                </a:moveTo>
                <a:cubicBezTo>
                  <a:pt x="244475" y="-12293"/>
                  <a:pt x="234543" y="-22225"/>
                  <a:pt x="222250" y="-22225"/>
                </a:cubicBezTo>
                <a:cubicBezTo>
                  <a:pt x="209957" y="-22225"/>
                  <a:pt x="200025" y="-12293"/>
                  <a:pt x="200025" y="0"/>
                </a:cubicBezTo>
                <a:lnTo>
                  <a:pt x="200025" y="44450"/>
                </a:lnTo>
                <a:lnTo>
                  <a:pt x="133350" y="44450"/>
                </a:lnTo>
                <a:cubicBezTo>
                  <a:pt x="96540" y="44450"/>
                  <a:pt x="66675" y="74315"/>
                  <a:pt x="66675" y="111125"/>
                </a:cubicBezTo>
                <a:lnTo>
                  <a:pt x="66675" y="266700"/>
                </a:lnTo>
                <a:cubicBezTo>
                  <a:pt x="66675" y="303510"/>
                  <a:pt x="96540" y="333375"/>
                  <a:pt x="133350" y="333375"/>
                </a:cubicBezTo>
                <a:lnTo>
                  <a:pt x="311150" y="333375"/>
                </a:lnTo>
                <a:cubicBezTo>
                  <a:pt x="347960" y="333375"/>
                  <a:pt x="377825" y="303510"/>
                  <a:pt x="377825" y="266700"/>
                </a:cubicBezTo>
                <a:lnTo>
                  <a:pt x="377825" y="111125"/>
                </a:lnTo>
                <a:cubicBezTo>
                  <a:pt x="377825" y="74315"/>
                  <a:pt x="347960" y="44450"/>
                  <a:pt x="311150" y="44450"/>
                </a:cubicBezTo>
                <a:lnTo>
                  <a:pt x="244475" y="44450"/>
                </a:lnTo>
                <a:lnTo>
                  <a:pt x="244475" y="0"/>
                </a:lnTo>
                <a:close/>
                <a:moveTo>
                  <a:pt x="111125" y="255587"/>
                </a:moveTo>
                <a:cubicBezTo>
                  <a:pt x="111125" y="246350"/>
                  <a:pt x="118556" y="238919"/>
                  <a:pt x="127794" y="238919"/>
                </a:cubicBezTo>
                <a:lnTo>
                  <a:pt x="150019" y="238919"/>
                </a:lnTo>
                <a:cubicBezTo>
                  <a:pt x="159256" y="238919"/>
                  <a:pt x="166688" y="246350"/>
                  <a:pt x="166688" y="255587"/>
                </a:cubicBezTo>
                <a:cubicBezTo>
                  <a:pt x="166688" y="264825"/>
                  <a:pt x="159256" y="272256"/>
                  <a:pt x="150019" y="272256"/>
                </a:cubicBezTo>
                <a:lnTo>
                  <a:pt x="127794" y="272256"/>
                </a:lnTo>
                <a:cubicBezTo>
                  <a:pt x="118556" y="272256"/>
                  <a:pt x="111125" y="264825"/>
                  <a:pt x="111125" y="255587"/>
                </a:cubicBezTo>
                <a:close/>
                <a:moveTo>
                  <a:pt x="194469" y="255587"/>
                </a:moveTo>
                <a:cubicBezTo>
                  <a:pt x="194469" y="246350"/>
                  <a:pt x="201900" y="238919"/>
                  <a:pt x="211138" y="238919"/>
                </a:cubicBezTo>
                <a:lnTo>
                  <a:pt x="233363" y="238919"/>
                </a:lnTo>
                <a:cubicBezTo>
                  <a:pt x="242600" y="238919"/>
                  <a:pt x="250031" y="246350"/>
                  <a:pt x="250031" y="255587"/>
                </a:cubicBezTo>
                <a:cubicBezTo>
                  <a:pt x="250031" y="264825"/>
                  <a:pt x="242600" y="272256"/>
                  <a:pt x="233363" y="272256"/>
                </a:cubicBezTo>
                <a:lnTo>
                  <a:pt x="211138" y="272256"/>
                </a:lnTo>
                <a:cubicBezTo>
                  <a:pt x="201900" y="272256"/>
                  <a:pt x="194469" y="264825"/>
                  <a:pt x="194469" y="255587"/>
                </a:cubicBezTo>
                <a:close/>
                <a:moveTo>
                  <a:pt x="277813" y="255587"/>
                </a:moveTo>
                <a:cubicBezTo>
                  <a:pt x="277813" y="246350"/>
                  <a:pt x="285244" y="238919"/>
                  <a:pt x="294481" y="238919"/>
                </a:cubicBezTo>
                <a:lnTo>
                  <a:pt x="316706" y="238919"/>
                </a:lnTo>
                <a:cubicBezTo>
                  <a:pt x="325944" y="238919"/>
                  <a:pt x="333375" y="246350"/>
                  <a:pt x="333375" y="255587"/>
                </a:cubicBezTo>
                <a:cubicBezTo>
                  <a:pt x="333375" y="264825"/>
                  <a:pt x="325944" y="272256"/>
                  <a:pt x="316706" y="272256"/>
                </a:cubicBezTo>
                <a:lnTo>
                  <a:pt x="294481" y="272256"/>
                </a:lnTo>
                <a:cubicBezTo>
                  <a:pt x="285244" y="272256"/>
                  <a:pt x="277813" y="264825"/>
                  <a:pt x="277813" y="255587"/>
                </a:cubicBezTo>
                <a:close/>
                <a:moveTo>
                  <a:pt x="155575" y="122238"/>
                </a:moveTo>
                <a:cubicBezTo>
                  <a:pt x="173974" y="122238"/>
                  <a:pt x="188913" y="137176"/>
                  <a:pt x="188913" y="155575"/>
                </a:cubicBezTo>
                <a:cubicBezTo>
                  <a:pt x="188913" y="173974"/>
                  <a:pt x="173974" y="188913"/>
                  <a:pt x="155575" y="188913"/>
                </a:cubicBezTo>
                <a:cubicBezTo>
                  <a:pt x="137176" y="188913"/>
                  <a:pt x="122238" y="173974"/>
                  <a:pt x="122238" y="155575"/>
                </a:cubicBezTo>
                <a:cubicBezTo>
                  <a:pt x="122238" y="137176"/>
                  <a:pt x="137176" y="122238"/>
                  <a:pt x="155575" y="122238"/>
                </a:cubicBezTo>
                <a:close/>
                <a:moveTo>
                  <a:pt x="255587" y="155575"/>
                </a:moveTo>
                <a:cubicBezTo>
                  <a:pt x="255587" y="137176"/>
                  <a:pt x="270526" y="122238"/>
                  <a:pt x="288925" y="122238"/>
                </a:cubicBezTo>
                <a:cubicBezTo>
                  <a:pt x="307324" y="122238"/>
                  <a:pt x="322263" y="137176"/>
                  <a:pt x="322263" y="155575"/>
                </a:cubicBezTo>
                <a:cubicBezTo>
                  <a:pt x="322263" y="173974"/>
                  <a:pt x="307324" y="188913"/>
                  <a:pt x="288925" y="188913"/>
                </a:cubicBezTo>
                <a:cubicBezTo>
                  <a:pt x="270526" y="188913"/>
                  <a:pt x="255587" y="173974"/>
                  <a:pt x="255587" y="155575"/>
                </a:cubicBezTo>
                <a:close/>
                <a:moveTo>
                  <a:pt x="44450" y="155575"/>
                </a:moveTo>
                <a:cubicBezTo>
                  <a:pt x="44450" y="143282"/>
                  <a:pt x="34518" y="133350"/>
                  <a:pt x="22225" y="133350"/>
                </a:cubicBezTo>
                <a:cubicBezTo>
                  <a:pt x="9932" y="133350"/>
                  <a:pt x="0" y="143282"/>
                  <a:pt x="0" y="155575"/>
                </a:cubicBezTo>
                <a:lnTo>
                  <a:pt x="0" y="222250"/>
                </a:lnTo>
                <a:cubicBezTo>
                  <a:pt x="0" y="234543"/>
                  <a:pt x="9932" y="244475"/>
                  <a:pt x="22225" y="244475"/>
                </a:cubicBezTo>
                <a:cubicBezTo>
                  <a:pt x="34518" y="244475"/>
                  <a:pt x="44450" y="234543"/>
                  <a:pt x="44450" y="222250"/>
                </a:cubicBezTo>
                <a:lnTo>
                  <a:pt x="44450" y="155575"/>
                </a:lnTo>
                <a:close/>
                <a:moveTo>
                  <a:pt x="422275" y="133350"/>
                </a:moveTo>
                <a:cubicBezTo>
                  <a:pt x="409982" y="133350"/>
                  <a:pt x="400050" y="143282"/>
                  <a:pt x="400050" y="155575"/>
                </a:cubicBezTo>
                <a:lnTo>
                  <a:pt x="400050" y="222250"/>
                </a:lnTo>
                <a:cubicBezTo>
                  <a:pt x="400050" y="234543"/>
                  <a:pt x="409982" y="244475"/>
                  <a:pt x="422275" y="244475"/>
                </a:cubicBezTo>
                <a:cubicBezTo>
                  <a:pt x="434568" y="244475"/>
                  <a:pt x="444500" y="234543"/>
                  <a:pt x="444500" y="222250"/>
                </a:cubicBezTo>
                <a:lnTo>
                  <a:pt x="444500" y="155575"/>
                </a:lnTo>
                <a:cubicBezTo>
                  <a:pt x="444500" y="143282"/>
                  <a:pt x="434568" y="133350"/>
                  <a:pt x="422275" y="133350"/>
                </a:cubicBez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473200" y="39624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Chatbot EMSI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16000" y="4394200"/>
            <a:ext cx="673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RecyclerView avec bulles messages. Prompt systeme en francais centre sur EMSI. Connexion Ollama locale avec gestion contexte question courante.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255000" y="3835400"/>
            <a:ext cx="7239000" cy="22225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464550" y="3962400"/>
            <a:ext cx="444500" cy="355600"/>
          </a:xfrm>
          <a:custGeom>
            <a:avLst/>
            <a:gdLst/>
            <a:ahLst/>
            <a:cxnLst/>
            <a:rect l="l" t="t" r="r" b="b"/>
            <a:pathLst>
              <a:path w="444500" h="355600">
                <a:moveTo>
                  <a:pt x="400050" y="33337"/>
                </a:moveTo>
                <a:cubicBezTo>
                  <a:pt x="400050" y="25628"/>
                  <a:pt x="396091" y="18475"/>
                  <a:pt x="389493" y="14446"/>
                </a:cubicBezTo>
                <a:cubicBezTo>
                  <a:pt x="382895" y="10418"/>
                  <a:pt x="374769" y="10001"/>
                  <a:pt x="367893" y="13474"/>
                </a:cubicBezTo>
                <a:lnTo>
                  <a:pt x="287189" y="53826"/>
                </a:lnTo>
                <a:lnTo>
                  <a:pt x="162590" y="12224"/>
                </a:lnTo>
                <a:cubicBezTo>
                  <a:pt x="156964" y="10349"/>
                  <a:pt x="150922" y="10765"/>
                  <a:pt x="145643" y="13404"/>
                </a:cubicBezTo>
                <a:lnTo>
                  <a:pt x="56743" y="57854"/>
                </a:lnTo>
                <a:cubicBezTo>
                  <a:pt x="49173" y="61674"/>
                  <a:pt x="44450" y="69384"/>
                  <a:pt x="44450" y="77788"/>
                </a:cubicBezTo>
                <a:lnTo>
                  <a:pt x="44450" y="322263"/>
                </a:lnTo>
                <a:cubicBezTo>
                  <a:pt x="44450" y="329972"/>
                  <a:pt x="48409" y="337125"/>
                  <a:pt x="55007" y="341154"/>
                </a:cubicBezTo>
                <a:cubicBezTo>
                  <a:pt x="61605" y="345182"/>
                  <a:pt x="69731" y="345599"/>
                  <a:pt x="76607" y="342126"/>
                </a:cubicBezTo>
                <a:lnTo>
                  <a:pt x="157242" y="301774"/>
                </a:lnTo>
                <a:lnTo>
                  <a:pt x="277604" y="341918"/>
                </a:lnTo>
                <a:cubicBezTo>
                  <a:pt x="274618" y="337473"/>
                  <a:pt x="271701" y="332819"/>
                  <a:pt x="268853" y="328097"/>
                </a:cubicBezTo>
                <a:cubicBezTo>
                  <a:pt x="261213" y="315387"/>
                  <a:pt x="253643" y="300801"/>
                  <a:pt x="248017" y="285175"/>
                </a:cubicBezTo>
                <a:lnTo>
                  <a:pt x="177731" y="261769"/>
                </a:lnTo>
                <a:lnTo>
                  <a:pt x="177731" y="64175"/>
                </a:lnTo>
                <a:lnTo>
                  <a:pt x="266631" y="93831"/>
                </a:lnTo>
                <a:lnTo>
                  <a:pt x="266631" y="162798"/>
                </a:lnTo>
                <a:cubicBezTo>
                  <a:pt x="288161" y="137934"/>
                  <a:pt x="320109" y="122238"/>
                  <a:pt x="355531" y="122238"/>
                </a:cubicBezTo>
                <a:cubicBezTo>
                  <a:pt x="371227" y="122238"/>
                  <a:pt x="386229" y="125293"/>
                  <a:pt x="399981" y="130919"/>
                </a:cubicBezTo>
                <a:lnTo>
                  <a:pt x="400050" y="33337"/>
                </a:lnTo>
                <a:close/>
                <a:moveTo>
                  <a:pt x="355600" y="155575"/>
                </a:moveTo>
                <a:cubicBezTo>
                  <a:pt x="309553" y="155575"/>
                  <a:pt x="272256" y="192246"/>
                  <a:pt x="272256" y="237460"/>
                </a:cubicBezTo>
                <a:cubicBezTo>
                  <a:pt x="272256" y="285313"/>
                  <a:pt x="316776" y="341918"/>
                  <a:pt x="340737" y="368935"/>
                </a:cubicBezTo>
                <a:cubicBezTo>
                  <a:pt x="348794" y="377964"/>
                  <a:pt x="362476" y="377964"/>
                  <a:pt x="370532" y="368935"/>
                </a:cubicBezTo>
                <a:cubicBezTo>
                  <a:pt x="394494" y="341918"/>
                  <a:pt x="439013" y="285313"/>
                  <a:pt x="439013" y="237460"/>
                </a:cubicBezTo>
                <a:cubicBezTo>
                  <a:pt x="439013" y="192246"/>
                  <a:pt x="401717" y="155575"/>
                  <a:pt x="355669" y="155575"/>
                </a:cubicBezTo>
                <a:close/>
                <a:moveTo>
                  <a:pt x="327819" y="238919"/>
                </a:moveTo>
                <a:cubicBezTo>
                  <a:pt x="327819" y="223586"/>
                  <a:pt x="340267" y="211138"/>
                  <a:pt x="355600" y="211138"/>
                </a:cubicBezTo>
                <a:cubicBezTo>
                  <a:pt x="370933" y="211138"/>
                  <a:pt x="383381" y="223586"/>
                  <a:pt x="383381" y="238919"/>
                </a:cubicBezTo>
                <a:cubicBezTo>
                  <a:pt x="383381" y="254252"/>
                  <a:pt x="370933" y="266700"/>
                  <a:pt x="355600" y="266700"/>
                </a:cubicBezTo>
                <a:cubicBezTo>
                  <a:pt x="340267" y="266700"/>
                  <a:pt x="327819" y="254252"/>
                  <a:pt x="327819" y="238919"/>
                </a:cubicBez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966200" y="39624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Carte EMSI / Google Maps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509000" y="4394200"/>
            <a:ext cx="673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Recherche campus EMSI dans Google Maps. URI geo avec requete EMSI, cible Google Maps ou fallback URL web. Complete le parcours utilisateur.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62000" y="63246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Integration backend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6731000"/>
          <a:ext cx="14732000" cy="1778000"/>
        </p:xfrm>
        <a:graphic>
          <a:graphicData uri="http://schemas.openxmlformats.org/drawingml/2006/table">
            <a:tbl>
              <a:tblPr/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Fonction Android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Route API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Resultat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register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POST /api/auth/register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Creation utilisateur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login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POST /api/auth/login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Token + informations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getQuestions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GET /api/questions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Liste questions et options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16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Fonctionnalites Mobiles Avancees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62000" y="13716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Exploitation des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capacites natives Android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pour enrichir l'experience utilisateur au-dela du quiz connecte.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133600"/>
          <a:ext cx="14732000" cy="3289300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2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786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Fonction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Permission / Service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Implementation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Valeur ajoutee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786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Photo de profil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Camera + galerie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Intent camera, choix galerie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Profil personnalise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786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Question vocale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RECORD_AUDIO + SpeechRecognizer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Reconnaissance vocale, texte insere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Interaction naturelle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86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Campus proche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ACCESS_FINE_LOCATION + Maps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Calcul distance, ouverture Maps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Lien orientation-localisation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786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Connexion reseau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INTERNET + ACCESS_NETWORK_STATE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API, MongoDB, Ollama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Architecture connectee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762000" y="6324600"/>
            <a:ext cx="635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Gestion des permissions et degradations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62000" y="6756400"/>
            <a:ext cx="7112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Demande explicite</a:t>
            </a:r>
            <a:r>
              <a:rPr lang="en-US" sz="15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permissions au bon moment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Graceful degradation</a:t>
            </a:r>
            <a:r>
              <a:rPr lang="en-US" sz="15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app fonctionnel sans permission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Messages clairs</a:t>
            </a:r>
            <a:r>
              <a:rPr lang="en-US" sz="15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explication si service indisponible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Fallback reseau</a:t>
            </a:r>
            <a:r>
              <a:rPr lang="en-US" sz="15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: URL repli, ADB reverse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382000" y="6324600"/>
            <a:ext cx="7112000" cy="21590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8636000" y="6502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406400" y="38100"/>
                </a:moveTo>
                <a:cubicBezTo>
                  <a:pt x="406400" y="29289"/>
                  <a:pt x="401876" y="21114"/>
                  <a:pt x="394335" y="16510"/>
                </a:cubicBezTo>
                <a:cubicBezTo>
                  <a:pt x="386794" y="11906"/>
                  <a:pt x="377508" y="11430"/>
                  <a:pt x="369649" y="15399"/>
                </a:cubicBezTo>
                <a:lnTo>
                  <a:pt x="277416" y="61516"/>
                </a:lnTo>
                <a:lnTo>
                  <a:pt x="135017" y="13970"/>
                </a:lnTo>
                <a:cubicBezTo>
                  <a:pt x="128588" y="11827"/>
                  <a:pt x="121682" y="12303"/>
                  <a:pt x="115649" y="15319"/>
                </a:cubicBezTo>
                <a:lnTo>
                  <a:pt x="14049" y="66119"/>
                </a:lnTo>
                <a:cubicBezTo>
                  <a:pt x="5398" y="70485"/>
                  <a:pt x="0" y="79296"/>
                  <a:pt x="0" y="88900"/>
                </a:cubicBezTo>
                <a:lnTo>
                  <a:pt x="0" y="368300"/>
                </a:lnTo>
                <a:cubicBezTo>
                  <a:pt x="0" y="377111"/>
                  <a:pt x="4524" y="385286"/>
                  <a:pt x="12065" y="389890"/>
                </a:cubicBezTo>
                <a:cubicBezTo>
                  <a:pt x="19606" y="394494"/>
                  <a:pt x="28893" y="394970"/>
                  <a:pt x="36751" y="391001"/>
                </a:cubicBezTo>
                <a:lnTo>
                  <a:pt x="128905" y="344884"/>
                </a:lnTo>
                <a:lnTo>
                  <a:pt x="271304" y="392351"/>
                </a:lnTo>
                <a:cubicBezTo>
                  <a:pt x="277733" y="394494"/>
                  <a:pt x="284639" y="394017"/>
                  <a:pt x="290671" y="391001"/>
                </a:cubicBezTo>
                <a:lnTo>
                  <a:pt x="392271" y="340201"/>
                </a:lnTo>
                <a:cubicBezTo>
                  <a:pt x="400844" y="335915"/>
                  <a:pt x="406321" y="327104"/>
                  <a:pt x="406321" y="317500"/>
                </a:cubicBezTo>
                <a:lnTo>
                  <a:pt x="406321" y="38100"/>
                </a:lnTo>
                <a:close/>
                <a:moveTo>
                  <a:pt x="152400" y="299164"/>
                </a:moveTo>
                <a:lnTo>
                  <a:pt x="152400" y="73342"/>
                </a:lnTo>
                <a:lnTo>
                  <a:pt x="254000" y="107236"/>
                </a:lnTo>
                <a:lnTo>
                  <a:pt x="254000" y="333058"/>
                </a:lnTo>
                <a:lnTo>
                  <a:pt x="152400" y="299164"/>
                </a:lnTo>
                <a:close/>
              </a:path>
            </a:pathLst>
          </a:cu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169400" y="6502400"/>
            <a:ext cx="609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Google Maps Integration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636000" y="6985000"/>
            <a:ext cx="660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EmsiMapActivity construit URI geo avec requete "EMSI". Cible Google Maps si installe, sinon URL web Maps. Affiche plusieurs campus sur la carte.</a:t>
            </a:r>
            <a:endParaRPr lang="en-US" sz="1600" dirty="0"/>
          </a:p>
        </p:txBody>
      </p:sp>
      <p:sp>
        <p:nvSpPr>
          <p:cNvPr id="11" name="Text 15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17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Tests et Validation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397000"/>
          <a:ext cx="14732000" cy="4648204"/>
        </p:xfrm>
        <a:graphic>
          <a:graphicData uri="http://schemas.openxmlformats.org/drawingml/2006/table">
            <a:tbl>
              <a:tblPr/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Test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Objectif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Resultat attendu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Connexion champs vides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Validation locale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Message : remplir les champs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Inscription mots de passe differents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Coherence formulaire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Message d'erreur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Chargement quiz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API questions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Questions affichees dans l'ordre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Validation sans option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Eviter reponse vide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Message : choisir une option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Fin du quiz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Navigation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Ouverture ecran Score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Sauvegarde score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Insertion backend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Score conserve dans MongoDB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Chatbot indisponible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Resilience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Message probleme de connexion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Permission localisation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Campus proche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Permission puis calcul distance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Permission micro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Saisie vocale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Texte reconnu dans le champ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56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Changement IP PC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Configuration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Mise a jour gradle.properties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762000" y="6705600"/>
            <a:ext cx="635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Criteres de validation pour la soutenance</a:t>
            </a:r>
            <a:endParaRPr lang="en-US" sz="16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7112000"/>
          <a:ext cx="14732000" cy="1397000"/>
        </p:xfrm>
        <a:graphic>
          <a:graphicData uri="http://schemas.openxmlformats.org/drawingml/2006/table">
            <a:tbl>
              <a:tblPr/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5324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Element a montrer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Preuve attendue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Importance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083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Backend actif + Quiz dynamique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Console MongoDB + Questions API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838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Score sauvegarde + Chatbot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Dernier score retrouve + Reponse IA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18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 Contexte General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 Analyse et Conception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 Etude Technique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 Mise en Oeuvre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6604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Ameliorations Proposees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62000" y="11938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397000"/>
          <a:ext cx="14732000" cy="5080000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7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5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Amelioration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Justification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Priorite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Domaine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Backend complet avec back-office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Administrer questions, options, filieres, campus et statistiques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Backend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Backend personnel avance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Roles, validation, logs, historique et securite renforcee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Backend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IA documentaire EMSI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Documents officiels pour reponses plus fiables et precises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Haute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Fonctionnalites mobiles enrichies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Notifications, mode hors ligne, historique local et partage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Moyenne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Mobile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Avatar temps reel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Rendre l'assistant plus vivant lors de la demonstration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Moyenne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6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Statistiques d'orientation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Analyser tendances par filiere et campus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Moyenne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Data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7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Tests automatises et CI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Verifier build, tests et qualite avant livraison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Moyenne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1D1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DevOps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762000" y="6705600"/>
            <a:ext cx="14732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Ces perspectives montrent qu'EMSI PassionMatch peut evoluer d'un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PFA fonctionnel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vers une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plateforme complete d'accompagnement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La version actuelle constitue une base solide avec les modules essentiels existants et les points d'evolution clairement identifies.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kern="0" spc="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CONCLUSION GENERALE ET PERSPECTIVES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62000" y="7620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 et Perspectives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2000" y="1295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2000" y="1524000"/>
            <a:ext cx="50800" cy="29210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5200" y="1524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Bilan du projet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200" y="1930400"/>
            <a:ext cx="6858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EMSI PassionMatch a permis de concevoir et developper une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application Android d'orientation intelligente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reunissant :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Interfaces mobiles et gestion de formulaires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Integration backend Express/MongoDB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Calcul de scores et visualisation graphique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Permissions Android et services natifs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Connexion a une intelligence artificielle locale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82000" y="1524000"/>
            <a:ext cx="50800" cy="2921000"/>
          </a:xfrm>
          <a:prstGeom prst="rect">
            <a:avLst/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585200" y="1524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A67C2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Apports techniques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85200" y="1930400"/>
            <a:ext cx="6858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L'architecture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separee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(mobile + backend + IA) facilite la maintenance et les extensions :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Application mobile : experience utilisateur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Backend : persistance et securite des donnees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Ollama : reponses conversationnelles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Retrofit/OkHttp : communication propre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Coroutines Kotlin : asynchrone efficace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2000" y="4889500"/>
            <a:ext cx="14732000" cy="3492500"/>
          </a:xfrm>
          <a:prstGeom prst="rect">
            <a:avLst/>
          </a:prstGeom>
          <a:solidFill>
            <a:srgbClr val="E8ED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16000" y="50419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Perspectives d'evolution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6000" y="54991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Backend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16000" y="5854700"/>
            <a:ext cx="317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Back-office CRUD complet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Roles et sessions avancees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Logs et securite renforcee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99000" y="54991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Intelligence Artificielle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99000" y="5854700"/>
            <a:ext cx="317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IA documentaire RAG EMSI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Avatar temps reel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Backend IA centralise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82000" y="54991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Experience Utilisateur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82000" y="5854700"/>
            <a:ext cx="317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Historique scores complet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Statistiques d'orientation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Notifications push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65000" y="54991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5E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DevOps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065000" y="5854700"/>
            <a:ext cx="317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Tests automatises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Integration continue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4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Deploiement cloud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16000" y="7264400"/>
            <a:ext cx="142240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 projet atteint ses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objectifs pedagogiques et fonctionnels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Il montre une application mobile complete capable de dialoguer avec un backend et un service IA, tout en restant centree sur un besoin concret : </a:t>
            </a:r>
            <a:r>
              <a:rPr lang="en-US" sz="1600" b="1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rendre l'orientation plus interactive, plus lisible et plus accessible</a:t>
            </a:r>
            <a:r>
              <a:rPr lang="en-US" sz="1600" dirty="0">
                <a:solidFill>
                  <a:srgbClr val="1A1D1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6B7B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 / 21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3C1B86-13CF-72E3-BA7A-E0B1A8088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33FEF84-1A3A-A342-3127-B4F85C0999B9}"/>
              </a:ext>
            </a:extLst>
          </p:cNvPr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BF72A6-E895-7396-57C6-A57A1AE328C1}"/>
              </a:ext>
            </a:extLst>
          </p:cNvPr>
          <p:cNvSpPr/>
          <p:nvPr/>
        </p:nvSpPr>
        <p:spPr>
          <a:xfrm>
            <a:off x="0" y="0"/>
            <a:ext cx="1625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3269DF-2259-A77D-4720-1DEE751DD4E2}"/>
              </a:ext>
            </a:extLst>
          </p:cNvPr>
          <p:cNvSpPr/>
          <p:nvPr/>
        </p:nvSpPr>
        <p:spPr>
          <a:xfrm>
            <a:off x="762000" y="7620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5E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Screenshots</a:t>
            </a:r>
            <a:endParaRPr lang="en-US" sz="28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0B3F7F6-5B62-CB2B-A7BA-5796AB94B2B6}"/>
              </a:ext>
            </a:extLst>
          </p:cNvPr>
          <p:cNvSpPr/>
          <p:nvPr/>
        </p:nvSpPr>
        <p:spPr>
          <a:xfrm>
            <a:off x="762000" y="1295400"/>
            <a:ext cx="14732000" cy="25400"/>
          </a:xfrm>
          <a:prstGeom prst="rect">
            <a:avLst/>
          </a:prstGeom>
          <a:solidFill>
            <a:srgbClr val="1B5E3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Picture 23" descr="Figure 5 : Ecrans de connexion et d'inscription" title="Figure 5 : Ecrans de connexion et d'inscription">
            <a:extLst>
              <a:ext uri="{FF2B5EF4-FFF2-40B4-BE49-F238E27FC236}">
                <a16:creationId xmlns:a16="http://schemas.microsoft.com/office/drawing/2014/main" id="{848C1581-A0FB-86C1-ED50-E26A31C93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46" y="2340301"/>
            <a:ext cx="5836508" cy="5873922"/>
          </a:xfrm>
          <a:prstGeom prst="rect">
            <a:avLst/>
          </a:prstGeom>
        </p:spPr>
      </p:pic>
      <p:pic>
        <p:nvPicPr>
          <p:cNvPr id="25" name="Picture 24" descr="Figure 6 : Ecrans quiz, score et assistant" title="Figure 6 : Ecrans quiz, score et assistant">
            <a:extLst>
              <a:ext uri="{FF2B5EF4-FFF2-40B4-BE49-F238E27FC236}">
                <a16:creationId xmlns:a16="http://schemas.microsoft.com/office/drawing/2014/main" id="{F31D7F01-C901-05CA-32E7-AA998D56EE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96" y="2340301"/>
            <a:ext cx="8403488" cy="587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239870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gradFill flip="none" rotWithShape="1">
          <a:gsLst>
            <a:gs pos="0">
              <a:srgbClr val="1B5E3B"/>
            </a:gs>
            <a:gs pos="100000">
              <a:srgbClr val="0F3D26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921000"/>
            <a:ext cx="2540000" cy="38100"/>
          </a:xfrm>
          <a:prstGeom prst="rect">
            <a:avLst/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78000" y="3175000"/>
            <a:ext cx="12700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Merci de votre attention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78000" y="4064000"/>
            <a:ext cx="1270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E8EDE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Questions 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23000" y="4826000"/>
            <a:ext cx="3810000" cy="12700"/>
          </a:xfrm>
          <a:prstGeom prst="rect">
            <a:avLst/>
          </a:prstGeom>
          <a:solidFill>
            <a:srgbClr val="FFFFFF">
              <a:alpha val="31373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778000" y="5080000"/>
            <a:ext cx="1270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b="1" dirty="0">
                <a:solidFill>
                  <a:srgbClr val="FFFFFF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EMSI PassionMatch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Application mobile Android d'orientation intelligente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Oussama BOUKENZE | EMSI | Annee universitaire 2025-2026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0" y="6731000"/>
            <a:ext cx="2540000" cy="457200"/>
          </a:xfrm>
          <a:prstGeom prst="roundRect">
            <a:avLst>
              <a:gd name="adj" fmla="val 50000"/>
            </a:avLst>
          </a:prstGeom>
          <a:solidFill>
            <a:srgbClr val="C895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0" y="6731000"/>
            <a:ext cx="2540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PFA 2025-2026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2567</Words>
  <Application>Microsoft Office PowerPoint</Application>
  <PresentationFormat>Custom</PresentationFormat>
  <Paragraphs>648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Quattrocento Sans</vt:lpstr>
      <vt:lpstr>QuattrocentoSans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EMSI PassionMatch - Rapport PFA</dc:title>
  <dc:subject>EMSI PassionMatch - Rapport PFA</dc:subject>
  <dc:creator>Kimi</dc:creator>
  <cp:lastModifiedBy>Oussama Boukenze</cp:lastModifiedBy>
  <cp:revision>4</cp:revision>
  <dcterms:created xsi:type="dcterms:W3CDTF">2026-05-20T11:34:06Z</dcterms:created>
  <dcterms:modified xsi:type="dcterms:W3CDTF">2026-05-20T11:56:05Z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{"Label":"EMSI PassionMatch - Rapport PFA","ContentProducer":"001191110108MACG2KBH8F10000","ProduceID":"19e4525f-7642-816e-8000-0000201323fa","ReservedCode1":"","ContentPropagator":"001191110108MACG2KBH8F20000","PropagateID":"19e4525f-7642-816e-8000-0000201323fa","ReservedCode2":""}</vt:lpwstr>
  </property>
</Properties>
</file>